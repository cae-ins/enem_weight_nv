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22"/>
  </p:notesMasterIdLst>
  <p:handoutMasterIdLst>
    <p:handoutMasterId r:id="rId23"/>
  </p:handoutMasterIdLst>
  <p:sldIdLst>
    <p:sldId id="256" r:id="rId6"/>
    <p:sldId id="641" r:id="rId7"/>
    <p:sldId id="633" r:id="rId8"/>
    <p:sldId id="644" r:id="rId9"/>
    <p:sldId id="636" r:id="rId10"/>
    <p:sldId id="655" r:id="rId11"/>
    <p:sldId id="656" r:id="rId12"/>
    <p:sldId id="657" r:id="rId13"/>
    <p:sldId id="658" r:id="rId14"/>
    <p:sldId id="659" r:id="rId15"/>
    <p:sldId id="660" r:id="rId16"/>
    <p:sldId id="661" r:id="rId17"/>
    <p:sldId id="662" r:id="rId18"/>
    <p:sldId id="663" r:id="rId19"/>
    <p:sldId id="664" r:id="rId20"/>
    <p:sldId id="643"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47016EA2-1BE1-4FDD-B00A-AC33FB1BC4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AE4E4A6B-127A-46A9-BE54-B01AB6C615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55737A-1903-4019-B7C0-BDE9DAC9E945}" type="datetime1">
              <a:rPr lang="fr-FR" smtClean="0"/>
              <a:t>13/01/2025</a:t>
            </a:fld>
            <a:endParaRPr lang="fr-FR"/>
          </a:p>
        </p:txBody>
      </p:sp>
      <p:sp>
        <p:nvSpPr>
          <p:cNvPr id="4" name="Espace réservé du pied de page 3">
            <a:extLst>
              <a:ext uri="{FF2B5EF4-FFF2-40B4-BE49-F238E27FC236}">
                <a16:creationId xmlns:a16="http://schemas.microsoft.com/office/drawing/2014/main" id="{3476DF4B-8F90-4AC9-92C7-6297F0E328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r-FR"/>
              <a:t>Institut National de la Statistique (INS)</a:t>
            </a:r>
          </a:p>
        </p:txBody>
      </p:sp>
      <p:sp>
        <p:nvSpPr>
          <p:cNvPr id="5" name="Espace réservé du numéro de diapositive 4">
            <a:extLst>
              <a:ext uri="{FF2B5EF4-FFF2-40B4-BE49-F238E27FC236}">
                <a16:creationId xmlns:a16="http://schemas.microsoft.com/office/drawing/2014/main" id="{2C15860E-9AD1-4810-BCE2-D515970A57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3F7944-C6AC-4B6B-AFDD-A490FF90A6E6}" type="slidenum">
              <a:rPr lang="fr-FR" smtClean="0"/>
              <a:t>‹N°›</a:t>
            </a:fld>
            <a:endParaRPr lang="fr-FR"/>
          </a:p>
        </p:txBody>
      </p:sp>
    </p:spTree>
    <p:extLst>
      <p:ext uri="{BB962C8B-B14F-4D97-AF65-F5344CB8AC3E}">
        <p14:creationId xmlns:p14="http://schemas.microsoft.com/office/powerpoint/2010/main" val="1431635958"/>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9BD7E-BB37-4B86-BD37-CBC31EEC0664}" type="datetime1">
              <a:rPr lang="fr-FR" smtClean="0"/>
              <a:t>13/01/2025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fr-FR"/>
              <a:t>Institut National de la Statistique (INS)</a:t>
            </a: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67037-2757-4710-9080-3A3BDB914D3A}" type="slidenum">
              <a:rPr lang="fr-FR" smtClean="0"/>
              <a:t>‹N°›</a:t>
            </a:fld>
            <a:endParaRPr lang="fr-FR"/>
          </a:p>
        </p:txBody>
      </p:sp>
    </p:spTree>
    <p:extLst>
      <p:ext uri="{BB962C8B-B14F-4D97-AF65-F5344CB8AC3E}">
        <p14:creationId xmlns:p14="http://schemas.microsoft.com/office/powerpoint/2010/main" val="3056058140"/>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58FE9-9672-443C-A087-0BCEFA64D83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480766D-243E-4DE9-8AC7-47CEC3C9BE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97DEC9E-D679-40C0-94A6-51E4EB4199A5}"/>
              </a:ext>
            </a:extLst>
          </p:cNvPr>
          <p:cNvSpPr>
            <a:spLocks noGrp="1"/>
          </p:cNvSpPr>
          <p:nvPr>
            <p:ph type="dt" sz="half" idx="10"/>
          </p:nvPr>
        </p:nvSpPr>
        <p:spPr/>
        <p:txBody>
          <a:bodyPr/>
          <a:lstStyle/>
          <a:p>
            <a:fld id="{A2373053-18FC-46AB-9DF6-3CCA925EDC4D}" type="datetime1">
              <a:rPr lang="fr-FR" smtClean="0"/>
              <a:t>13/01/2025</a:t>
            </a:fld>
            <a:endParaRPr lang="fr-FR"/>
          </a:p>
        </p:txBody>
      </p:sp>
      <p:sp>
        <p:nvSpPr>
          <p:cNvPr id="5" name="Espace réservé du pied de page 4">
            <a:extLst>
              <a:ext uri="{FF2B5EF4-FFF2-40B4-BE49-F238E27FC236}">
                <a16:creationId xmlns:a16="http://schemas.microsoft.com/office/drawing/2014/main" id="{FCC85760-7AD0-41E2-B975-3AA14B95212B}"/>
              </a:ext>
            </a:extLst>
          </p:cNvPr>
          <p:cNvSpPr>
            <a:spLocks noGrp="1"/>
          </p:cNvSpPr>
          <p:nvPr>
            <p:ph type="ftr" sz="quarter" idx="11"/>
          </p:nvPr>
        </p:nvSpPr>
        <p:spPr/>
        <p:txBody>
          <a:body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58777D52-9F4A-4772-B33B-CC35AAA2453C}"/>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3353781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ACEC22-F1D3-454D-9FCC-B2046A6BD68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BABF0A7-44B1-451D-8A40-19EE4E7F3EF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830AC33-30B7-4633-A830-F2D64AEDFE66}"/>
              </a:ext>
            </a:extLst>
          </p:cNvPr>
          <p:cNvSpPr>
            <a:spLocks noGrp="1"/>
          </p:cNvSpPr>
          <p:nvPr>
            <p:ph type="dt" sz="half" idx="10"/>
          </p:nvPr>
        </p:nvSpPr>
        <p:spPr/>
        <p:txBody>
          <a:bodyPr/>
          <a:lstStyle/>
          <a:p>
            <a:fld id="{E4A1203B-94EF-44FB-B5B8-1A0B0B3C79B9}" type="datetime1">
              <a:rPr lang="fr-FR" smtClean="0"/>
              <a:t>13/01/2025</a:t>
            </a:fld>
            <a:endParaRPr lang="fr-FR"/>
          </a:p>
        </p:txBody>
      </p:sp>
      <p:sp>
        <p:nvSpPr>
          <p:cNvPr id="5" name="Espace réservé du pied de page 4">
            <a:extLst>
              <a:ext uri="{FF2B5EF4-FFF2-40B4-BE49-F238E27FC236}">
                <a16:creationId xmlns:a16="http://schemas.microsoft.com/office/drawing/2014/main" id="{519676BF-649A-4AC0-A7DF-6391FC9A11C5}"/>
              </a:ext>
            </a:extLst>
          </p:cNvPr>
          <p:cNvSpPr>
            <a:spLocks noGrp="1"/>
          </p:cNvSpPr>
          <p:nvPr>
            <p:ph type="ftr" sz="quarter" idx="11"/>
          </p:nvPr>
        </p:nvSpPr>
        <p:spPr/>
        <p:txBody>
          <a:body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6428690C-67F4-4955-B689-0E79DA9255FB}"/>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169568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E9DDA-D812-4FC4-AB1A-1F8F32762A1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FF780CA-7920-4116-9B82-7B86F1C99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F2678E0-E62C-43BE-A41C-2361C7478CE0}"/>
              </a:ext>
            </a:extLst>
          </p:cNvPr>
          <p:cNvSpPr>
            <a:spLocks noGrp="1"/>
          </p:cNvSpPr>
          <p:nvPr>
            <p:ph type="dt" sz="half" idx="10"/>
          </p:nvPr>
        </p:nvSpPr>
        <p:spPr/>
        <p:txBody>
          <a:bodyPr/>
          <a:lstStyle/>
          <a:p>
            <a:fld id="{8CC3DC35-D506-4AEA-BFDE-E288E5053B7C}" type="datetime1">
              <a:rPr lang="fr-FR" smtClean="0"/>
              <a:t>13/01/2025</a:t>
            </a:fld>
            <a:endParaRPr lang="fr-FR"/>
          </a:p>
        </p:txBody>
      </p:sp>
      <p:sp>
        <p:nvSpPr>
          <p:cNvPr id="5" name="Espace réservé du pied de page 4">
            <a:extLst>
              <a:ext uri="{FF2B5EF4-FFF2-40B4-BE49-F238E27FC236}">
                <a16:creationId xmlns:a16="http://schemas.microsoft.com/office/drawing/2014/main" id="{F917F3BD-6D60-44EA-BC17-AD1F9AC8A73B}"/>
              </a:ext>
            </a:extLst>
          </p:cNvPr>
          <p:cNvSpPr>
            <a:spLocks noGrp="1"/>
          </p:cNvSpPr>
          <p:nvPr>
            <p:ph type="ftr" sz="quarter" idx="11"/>
          </p:nvPr>
        </p:nvSpPr>
        <p:spPr/>
        <p:txBody>
          <a:body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45366B86-29ED-4C8A-933C-D5F3B50C703E}"/>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2198061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2B37E-E01A-4E57-9EFE-F88E76D7794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0DFA965-B8A8-4AB0-B9DE-52DF391E61C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6EBD218-340A-4C7F-A6FF-8256439384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3D914EF-C73F-4392-BA11-D8518CCCDDD0}"/>
              </a:ext>
            </a:extLst>
          </p:cNvPr>
          <p:cNvSpPr>
            <a:spLocks noGrp="1"/>
          </p:cNvSpPr>
          <p:nvPr>
            <p:ph type="dt" sz="half" idx="10"/>
          </p:nvPr>
        </p:nvSpPr>
        <p:spPr/>
        <p:txBody>
          <a:bodyPr/>
          <a:lstStyle/>
          <a:p>
            <a:fld id="{31E6501D-B7E9-4BE9-A5C6-8528AB54A9CD}" type="datetime1">
              <a:rPr lang="fr-FR" smtClean="0"/>
              <a:t>13/01/2025</a:t>
            </a:fld>
            <a:endParaRPr lang="fr-FR"/>
          </a:p>
        </p:txBody>
      </p:sp>
      <p:sp>
        <p:nvSpPr>
          <p:cNvPr id="6" name="Espace réservé du pied de page 5">
            <a:extLst>
              <a:ext uri="{FF2B5EF4-FFF2-40B4-BE49-F238E27FC236}">
                <a16:creationId xmlns:a16="http://schemas.microsoft.com/office/drawing/2014/main" id="{80939698-76E7-4784-8E27-DB1397F82556}"/>
              </a:ext>
            </a:extLst>
          </p:cNvPr>
          <p:cNvSpPr>
            <a:spLocks noGrp="1"/>
          </p:cNvSpPr>
          <p:nvPr>
            <p:ph type="ftr" sz="quarter" idx="11"/>
          </p:nvPr>
        </p:nvSpPr>
        <p:spPr/>
        <p:txBody>
          <a:bodyPr/>
          <a:lstStyle/>
          <a:p>
            <a:r>
              <a:rPr lang="fr-FR"/>
              <a:t>Institut National de la Statistique (INS) </a:t>
            </a:r>
          </a:p>
        </p:txBody>
      </p:sp>
      <p:sp>
        <p:nvSpPr>
          <p:cNvPr id="7" name="Espace réservé du numéro de diapositive 6">
            <a:extLst>
              <a:ext uri="{FF2B5EF4-FFF2-40B4-BE49-F238E27FC236}">
                <a16:creationId xmlns:a16="http://schemas.microsoft.com/office/drawing/2014/main" id="{C63D723C-34CD-4EF9-AEF5-443087CD876D}"/>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3730568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BF547B-F205-4450-B892-4EB3B71C73A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B178936-8596-43BF-B92D-E0FD80DF4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CD2A40-E770-4714-AC71-0F776596585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5F5107F-9A29-4690-8C21-91773136DC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917AFDB-2005-4335-970B-59B473FC136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D21D137-B5F0-49C2-BA87-6553A87043CF}"/>
              </a:ext>
            </a:extLst>
          </p:cNvPr>
          <p:cNvSpPr>
            <a:spLocks noGrp="1"/>
          </p:cNvSpPr>
          <p:nvPr>
            <p:ph type="dt" sz="half" idx="10"/>
          </p:nvPr>
        </p:nvSpPr>
        <p:spPr/>
        <p:txBody>
          <a:bodyPr/>
          <a:lstStyle/>
          <a:p>
            <a:fld id="{39EB136C-8989-420C-9601-B46AC747CE4A}" type="datetime1">
              <a:rPr lang="fr-FR" smtClean="0"/>
              <a:t>13/01/2025</a:t>
            </a:fld>
            <a:endParaRPr lang="fr-FR"/>
          </a:p>
        </p:txBody>
      </p:sp>
      <p:sp>
        <p:nvSpPr>
          <p:cNvPr id="8" name="Espace réservé du pied de page 7">
            <a:extLst>
              <a:ext uri="{FF2B5EF4-FFF2-40B4-BE49-F238E27FC236}">
                <a16:creationId xmlns:a16="http://schemas.microsoft.com/office/drawing/2014/main" id="{67654AB6-8670-40E9-B33C-3C9507016639}"/>
              </a:ext>
            </a:extLst>
          </p:cNvPr>
          <p:cNvSpPr>
            <a:spLocks noGrp="1"/>
          </p:cNvSpPr>
          <p:nvPr>
            <p:ph type="ftr" sz="quarter" idx="11"/>
          </p:nvPr>
        </p:nvSpPr>
        <p:spPr/>
        <p:txBody>
          <a:bodyPr/>
          <a:lstStyle/>
          <a:p>
            <a:r>
              <a:rPr lang="fr-FR"/>
              <a:t>Institut National de la Statistique (INS) </a:t>
            </a:r>
          </a:p>
        </p:txBody>
      </p:sp>
      <p:sp>
        <p:nvSpPr>
          <p:cNvPr id="9" name="Espace réservé du numéro de diapositive 8">
            <a:extLst>
              <a:ext uri="{FF2B5EF4-FFF2-40B4-BE49-F238E27FC236}">
                <a16:creationId xmlns:a16="http://schemas.microsoft.com/office/drawing/2014/main" id="{498EB041-E06D-4A26-AB7D-BCC845927243}"/>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410091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24BBB4-CDBB-4AED-B35D-AF39F9823F2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8268E37-669C-4610-A408-8FA26E61A971}"/>
              </a:ext>
            </a:extLst>
          </p:cNvPr>
          <p:cNvSpPr>
            <a:spLocks noGrp="1"/>
          </p:cNvSpPr>
          <p:nvPr>
            <p:ph type="dt" sz="half" idx="10"/>
          </p:nvPr>
        </p:nvSpPr>
        <p:spPr/>
        <p:txBody>
          <a:bodyPr/>
          <a:lstStyle/>
          <a:p>
            <a:fld id="{9847A914-B6DC-4371-A9DB-F68065D5434A}" type="datetime1">
              <a:rPr lang="fr-FR" smtClean="0"/>
              <a:t>13/01/2025</a:t>
            </a:fld>
            <a:endParaRPr lang="fr-FR"/>
          </a:p>
        </p:txBody>
      </p:sp>
      <p:sp>
        <p:nvSpPr>
          <p:cNvPr id="4" name="Espace réservé du pied de page 3">
            <a:extLst>
              <a:ext uri="{FF2B5EF4-FFF2-40B4-BE49-F238E27FC236}">
                <a16:creationId xmlns:a16="http://schemas.microsoft.com/office/drawing/2014/main" id="{400B5712-92D7-4D86-9639-70A1198CE49C}"/>
              </a:ext>
            </a:extLst>
          </p:cNvPr>
          <p:cNvSpPr>
            <a:spLocks noGrp="1"/>
          </p:cNvSpPr>
          <p:nvPr>
            <p:ph type="ftr" sz="quarter" idx="11"/>
          </p:nvPr>
        </p:nvSpPr>
        <p:spPr/>
        <p:txBody>
          <a:bodyPr/>
          <a:lstStyle/>
          <a:p>
            <a:r>
              <a:rPr lang="fr-FR"/>
              <a:t>Institut National de la Statistique (INS) </a:t>
            </a:r>
          </a:p>
        </p:txBody>
      </p:sp>
      <p:sp>
        <p:nvSpPr>
          <p:cNvPr id="5" name="Espace réservé du numéro de diapositive 4">
            <a:extLst>
              <a:ext uri="{FF2B5EF4-FFF2-40B4-BE49-F238E27FC236}">
                <a16:creationId xmlns:a16="http://schemas.microsoft.com/office/drawing/2014/main" id="{C062FE26-267B-4014-995A-8F8716FF0A50}"/>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79880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6253701-F87D-4CC1-B62C-3C52A48603D7}"/>
              </a:ext>
            </a:extLst>
          </p:cNvPr>
          <p:cNvSpPr>
            <a:spLocks noGrp="1"/>
          </p:cNvSpPr>
          <p:nvPr>
            <p:ph type="dt" sz="half" idx="10"/>
          </p:nvPr>
        </p:nvSpPr>
        <p:spPr/>
        <p:txBody>
          <a:bodyPr/>
          <a:lstStyle/>
          <a:p>
            <a:fld id="{88E895DC-599C-4D67-B11F-BD29D34D7C1D}" type="datetime1">
              <a:rPr lang="fr-FR" smtClean="0"/>
              <a:t>13/01/2025</a:t>
            </a:fld>
            <a:endParaRPr lang="fr-FR"/>
          </a:p>
        </p:txBody>
      </p:sp>
      <p:sp>
        <p:nvSpPr>
          <p:cNvPr id="3" name="Espace réservé du pied de page 2">
            <a:extLst>
              <a:ext uri="{FF2B5EF4-FFF2-40B4-BE49-F238E27FC236}">
                <a16:creationId xmlns:a16="http://schemas.microsoft.com/office/drawing/2014/main" id="{91D2EAC1-8641-4430-85DC-1BE4893109C5}"/>
              </a:ext>
            </a:extLst>
          </p:cNvPr>
          <p:cNvSpPr>
            <a:spLocks noGrp="1"/>
          </p:cNvSpPr>
          <p:nvPr>
            <p:ph type="ftr" sz="quarter" idx="11"/>
          </p:nvPr>
        </p:nvSpPr>
        <p:spPr/>
        <p:txBody>
          <a:bodyPr/>
          <a:lstStyle/>
          <a:p>
            <a:r>
              <a:rPr lang="fr-FR"/>
              <a:t>Institut National de la Statistique (INS) </a:t>
            </a:r>
          </a:p>
        </p:txBody>
      </p:sp>
      <p:sp>
        <p:nvSpPr>
          <p:cNvPr id="4" name="Espace réservé du numéro de diapositive 3">
            <a:extLst>
              <a:ext uri="{FF2B5EF4-FFF2-40B4-BE49-F238E27FC236}">
                <a16:creationId xmlns:a16="http://schemas.microsoft.com/office/drawing/2014/main" id="{FAAD0C2B-8AF7-4821-8B7E-D4DEAD6F8209}"/>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761392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DD33FA-79A7-4584-82DA-585D3D83581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FA410F0-E293-49CE-8036-72A1926A14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B286C2A-C411-4CF0-9391-0AD5102042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2D98CBF-B1E5-4B41-9879-B87B10455CCC}"/>
              </a:ext>
            </a:extLst>
          </p:cNvPr>
          <p:cNvSpPr>
            <a:spLocks noGrp="1"/>
          </p:cNvSpPr>
          <p:nvPr>
            <p:ph type="dt" sz="half" idx="10"/>
          </p:nvPr>
        </p:nvSpPr>
        <p:spPr/>
        <p:txBody>
          <a:bodyPr/>
          <a:lstStyle/>
          <a:p>
            <a:fld id="{4A790550-3B90-4734-ADAD-0CC21C265515}" type="datetime1">
              <a:rPr lang="fr-FR" smtClean="0"/>
              <a:t>13/01/2025</a:t>
            </a:fld>
            <a:endParaRPr lang="fr-FR"/>
          </a:p>
        </p:txBody>
      </p:sp>
      <p:sp>
        <p:nvSpPr>
          <p:cNvPr id="6" name="Espace réservé du pied de page 5">
            <a:extLst>
              <a:ext uri="{FF2B5EF4-FFF2-40B4-BE49-F238E27FC236}">
                <a16:creationId xmlns:a16="http://schemas.microsoft.com/office/drawing/2014/main" id="{2215C011-3055-45EC-83FD-9B7B3EC03089}"/>
              </a:ext>
            </a:extLst>
          </p:cNvPr>
          <p:cNvSpPr>
            <a:spLocks noGrp="1"/>
          </p:cNvSpPr>
          <p:nvPr>
            <p:ph type="ftr" sz="quarter" idx="11"/>
          </p:nvPr>
        </p:nvSpPr>
        <p:spPr/>
        <p:txBody>
          <a:bodyPr/>
          <a:lstStyle/>
          <a:p>
            <a:r>
              <a:rPr lang="fr-FR"/>
              <a:t>Institut National de la Statistique (INS) </a:t>
            </a:r>
          </a:p>
        </p:txBody>
      </p:sp>
      <p:sp>
        <p:nvSpPr>
          <p:cNvPr id="7" name="Espace réservé du numéro de diapositive 6">
            <a:extLst>
              <a:ext uri="{FF2B5EF4-FFF2-40B4-BE49-F238E27FC236}">
                <a16:creationId xmlns:a16="http://schemas.microsoft.com/office/drawing/2014/main" id="{2A464304-50B6-48D4-82A9-95ACBDF40869}"/>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3697897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2810EE-3A45-4C89-8CFC-D82277E4B1B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78FD1E7-E8F6-49A4-996A-0D4F03EB64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5305F88-9FA1-4FF0-BFA8-2AC02CE7A0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D69A687-D715-490A-B5A4-6B7CE0BF2653}"/>
              </a:ext>
            </a:extLst>
          </p:cNvPr>
          <p:cNvSpPr>
            <a:spLocks noGrp="1"/>
          </p:cNvSpPr>
          <p:nvPr>
            <p:ph type="dt" sz="half" idx="10"/>
          </p:nvPr>
        </p:nvSpPr>
        <p:spPr/>
        <p:txBody>
          <a:bodyPr/>
          <a:lstStyle/>
          <a:p>
            <a:fld id="{80657E34-8331-4BB6-AF76-5AE9959737E0}" type="datetime1">
              <a:rPr lang="fr-FR" smtClean="0"/>
              <a:t>13/01/2025</a:t>
            </a:fld>
            <a:endParaRPr lang="fr-FR"/>
          </a:p>
        </p:txBody>
      </p:sp>
      <p:sp>
        <p:nvSpPr>
          <p:cNvPr id="6" name="Espace réservé du pied de page 5">
            <a:extLst>
              <a:ext uri="{FF2B5EF4-FFF2-40B4-BE49-F238E27FC236}">
                <a16:creationId xmlns:a16="http://schemas.microsoft.com/office/drawing/2014/main" id="{793D2987-DD66-4DFB-A55C-6CC5B49EA80C}"/>
              </a:ext>
            </a:extLst>
          </p:cNvPr>
          <p:cNvSpPr>
            <a:spLocks noGrp="1"/>
          </p:cNvSpPr>
          <p:nvPr>
            <p:ph type="ftr" sz="quarter" idx="11"/>
          </p:nvPr>
        </p:nvSpPr>
        <p:spPr/>
        <p:txBody>
          <a:bodyPr/>
          <a:lstStyle/>
          <a:p>
            <a:r>
              <a:rPr lang="fr-FR"/>
              <a:t>Institut National de la Statistique (INS) </a:t>
            </a:r>
          </a:p>
        </p:txBody>
      </p:sp>
      <p:sp>
        <p:nvSpPr>
          <p:cNvPr id="7" name="Espace réservé du numéro de diapositive 6">
            <a:extLst>
              <a:ext uri="{FF2B5EF4-FFF2-40B4-BE49-F238E27FC236}">
                <a16:creationId xmlns:a16="http://schemas.microsoft.com/office/drawing/2014/main" id="{DC8083AD-2C51-4B7C-BCB1-7E1D013EBFFE}"/>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4217573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0CCDD3-F470-4789-BCB9-AB3E9620E6B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03E71F2-7430-4187-9EFA-AFC47AA2316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A8440E-90CB-42D9-A666-0EBE196F5491}"/>
              </a:ext>
            </a:extLst>
          </p:cNvPr>
          <p:cNvSpPr>
            <a:spLocks noGrp="1"/>
          </p:cNvSpPr>
          <p:nvPr>
            <p:ph type="dt" sz="half" idx="10"/>
          </p:nvPr>
        </p:nvSpPr>
        <p:spPr/>
        <p:txBody>
          <a:bodyPr/>
          <a:lstStyle/>
          <a:p>
            <a:fld id="{B17B1E22-334B-4F27-9845-4A9948E29ABD}" type="datetime1">
              <a:rPr lang="fr-FR" smtClean="0"/>
              <a:t>13/01/2025</a:t>
            </a:fld>
            <a:endParaRPr lang="fr-FR"/>
          </a:p>
        </p:txBody>
      </p:sp>
      <p:sp>
        <p:nvSpPr>
          <p:cNvPr id="5" name="Espace réservé du pied de page 4">
            <a:extLst>
              <a:ext uri="{FF2B5EF4-FFF2-40B4-BE49-F238E27FC236}">
                <a16:creationId xmlns:a16="http://schemas.microsoft.com/office/drawing/2014/main" id="{1AEA10B9-76F2-42D1-B1DF-3AC456E5D475}"/>
              </a:ext>
            </a:extLst>
          </p:cNvPr>
          <p:cNvSpPr>
            <a:spLocks noGrp="1"/>
          </p:cNvSpPr>
          <p:nvPr>
            <p:ph type="ftr" sz="quarter" idx="11"/>
          </p:nvPr>
        </p:nvSpPr>
        <p:spPr/>
        <p:txBody>
          <a:body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42A6EA7B-03EE-4C9F-B09E-C5A167535A70}"/>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44883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AF5C859-A849-480A-9B09-4E8D7217949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E6E4722-5BF4-46E7-A7D8-44737D11B14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97DF6E-A892-4D08-88DA-D2CDA2C7014B}"/>
              </a:ext>
            </a:extLst>
          </p:cNvPr>
          <p:cNvSpPr>
            <a:spLocks noGrp="1"/>
          </p:cNvSpPr>
          <p:nvPr>
            <p:ph type="dt" sz="half" idx="10"/>
          </p:nvPr>
        </p:nvSpPr>
        <p:spPr/>
        <p:txBody>
          <a:bodyPr/>
          <a:lstStyle/>
          <a:p>
            <a:fld id="{37C2EF74-AC0E-4531-9CBD-CB1A96E81B39}" type="datetime1">
              <a:rPr lang="fr-FR" smtClean="0"/>
              <a:t>13/01/2025</a:t>
            </a:fld>
            <a:endParaRPr lang="fr-FR"/>
          </a:p>
        </p:txBody>
      </p:sp>
      <p:sp>
        <p:nvSpPr>
          <p:cNvPr id="5" name="Espace réservé du pied de page 4">
            <a:extLst>
              <a:ext uri="{FF2B5EF4-FFF2-40B4-BE49-F238E27FC236}">
                <a16:creationId xmlns:a16="http://schemas.microsoft.com/office/drawing/2014/main" id="{B8173ECE-86C4-477C-B361-D23620D312AF}"/>
              </a:ext>
            </a:extLst>
          </p:cNvPr>
          <p:cNvSpPr>
            <a:spLocks noGrp="1"/>
          </p:cNvSpPr>
          <p:nvPr>
            <p:ph type="ftr" sz="quarter" idx="11"/>
          </p:nvPr>
        </p:nvSpPr>
        <p:spPr/>
        <p:txBody>
          <a:body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196FC9A2-0B64-49F8-9777-6872E3C2AE74}"/>
              </a:ext>
            </a:extLst>
          </p:cNvPr>
          <p:cNvSpPr>
            <a:spLocks noGrp="1"/>
          </p:cNvSpPr>
          <p:nvPr>
            <p:ph type="sldNum" sz="quarter" idx="12"/>
          </p:nvPr>
        </p:nvSpPr>
        <p:spPr/>
        <p:txBody>
          <a:bodyPr/>
          <a:lstStyle/>
          <a:p>
            <a:fld id="{F40E3AFD-EB5A-4FC8-B8AD-6662596A3479}" type="slidenum">
              <a:rPr lang="fr-FR" smtClean="0"/>
              <a:t>‹N°›</a:t>
            </a:fld>
            <a:endParaRPr lang="fr-FR"/>
          </a:p>
        </p:txBody>
      </p:sp>
    </p:spTree>
    <p:extLst>
      <p:ext uri="{BB962C8B-B14F-4D97-AF65-F5344CB8AC3E}">
        <p14:creationId xmlns:p14="http://schemas.microsoft.com/office/powerpoint/2010/main" val="791212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138"/>
          <p:cNvSpPr>
            <a:spLocks noChangeArrowheads="1"/>
          </p:cNvSpPr>
          <p:nvPr userDrawn="1">
            <p:custDataLst>
              <p:tags r:id="rId1"/>
            </p:custDataLst>
          </p:nvPr>
        </p:nvSpPr>
        <p:spPr bwMode="gray">
          <a:xfrm>
            <a:off x="0" y="5060951"/>
            <a:ext cx="12192000" cy="1800225"/>
          </a:xfrm>
          <a:prstGeom prst="rect">
            <a:avLst/>
          </a:prstGeom>
          <a:solidFill>
            <a:srgbClr val="177B57"/>
          </a:solidFill>
          <a:ln w="9525" algn="ctr">
            <a:noFill/>
            <a:miter lim="800000"/>
            <a:headEnd/>
            <a:tailEnd/>
          </a:ln>
          <a:effectLst/>
        </p:spPr>
        <p:txBody>
          <a:bodyPr wrap="none" anchor="ctr"/>
          <a:lstStyle/>
          <a:p>
            <a:endParaRPr lang="en-US" sz="1800" noProof="0"/>
          </a:p>
        </p:txBody>
      </p:sp>
      <p:pic>
        <p:nvPicPr>
          <p:cNvPr id="8" name="Picture 149" descr="BCG_Monogram_RGB"/>
          <p:cNvPicPr>
            <a:picLocks noChangeAspect="1" noChangeArrowheads="1"/>
          </p:cNvPicPr>
          <p:nvPr userDrawn="1"/>
        </p:nvPicPr>
        <p:blipFill>
          <a:blip r:embed="rId3" cstate="screen"/>
          <a:srcRect/>
          <a:stretch>
            <a:fillRect/>
          </a:stretch>
        </p:blipFill>
        <p:spPr bwMode="auto">
          <a:xfrm>
            <a:off x="597877" y="677863"/>
            <a:ext cx="1992923" cy="673100"/>
          </a:xfrm>
          <a:prstGeom prst="rect">
            <a:avLst/>
          </a:prstGeom>
          <a:noFill/>
        </p:spPr>
      </p:pic>
      <p:pic>
        <p:nvPicPr>
          <p:cNvPr id="9" name="Picture 150" descr="BCG_Logotype_Regular_rev"/>
          <p:cNvPicPr>
            <a:picLocks noChangeAspect="1" noChangeArrowheads="1"/>
          </p:cNvPicPr>
          <p:nvPr userDrawn="1"/>
        </p:nvPicPr>
        <p:blipFill>
          <a:blip r:embed="rId4" cstate="screen"/>
          <a:srcRect/>
          <a:stretch>
            <a:fillRect/>
          </a:stretch>
        </p:blipFill>
        <p:spPr bwMode="auto">
          <a:xfrm>
            <a:off x="3524739" y="5840413"/>
            <a:ext cx="5142523" cy="252412"/>
          </a:xfrm>
          <a:prstGeom prst="rect">
            <a:avLst/>
          </a:prstGeom>
          <a:noFill/>
        </p:spPr>
      </p:pic>
      <p:sp>
        <p:nvSpPr>
          <p:cNvPr id="10" name="Text Placeholder 9"/>
          <p:cNvSpPr>
            <a:spLocks noGrp="1"/>
          </p:cNvSpPr>
          <p:nvPr>
            <p:ph type="body" sz="quarter" idx="10" hasCustomPrompt="1"/>
          </p:nvPr>
        </p:nvSpPr>
        <p:spPr>
          <a:xfrm>
            <a:off x="9574892" y="692249"/>
            <a:ext cx="2055877" cy="663993"/>
          </a:xfrm>
        </p:spPr>
        <p:txBody>
          <a:bodyPr lIns="90000" tIns="90000" rIns="90000" bIns="90000" anchor="ctr"/>
          <a:lstStyle>
            <a:lvl1pPr algn="ctr">
              <a:defRPr sz="1400" b="0" baseline="0">
                <a:solidFill>
                  <a:srgbClr val="808080"/>
                </a:solidFill>
              </a:defRPr>
            </a:lvl1pPr>
          </a:lstStyle>
          <a:p>
            <a:pPr lvl="0"/>
            <a:r>
              <a:rPr lang="en-US"/>
              <a:t>Placeholder for client logo</a:t>
            </a:r>
          </a:p>
        </p:txBody>
      </p:sp>
    </p:spTree>
    <p:extLst>
      <p:ext uri="{BB962C8B-B14F-4D97-AF65-F5344CB8AC3E}">
        <p14:creationId xmlns:p14="http://schemas.microsoft.com/office/powerpoint/2010/main" val="3564720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Text Placeholder 7"/>
          <p:cNvSpPr>
            <a:spLocks noGrp="1"/>
          </p:cNvSpPr>
          <p:nvPr>
            <p:ph type="body" sz="quarter" idx="13"/>
          </p:nvPr>
        </p:nvSpPr>
        <p:spPr>
          <a:xfrm>
            <a:off x="562707" y="1508400"/>
            <a:ext cx="11068062" cy="459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hidden="1"/>
          <p:cNvSpPr txBox="1">
            <a:spLocks/>
          </p:cNvSpPr>
          <p:nvPr userDrawn="1"/>
        </p:nvSpPr>
        <p:spPr>
          <a:xfrm>
            <a:off x="11583508" y="6826800"/>
            <a:ext cx="234831" cy="133200"/>
          </a:xfrm>
          <a:prstGeom prst="flowChartProcess">
            <a:avLst/>
          </a:prstGeom>
        </p:spPr>
        <p:txBody>
          <a:bodyPr vert="horz" wrap="none" lIns="0" tIns="0" rIns="0" bIns="0" rtlCol="0" anchor="t"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33422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0709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58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138"/>
          <p:cNvSpPr>
            <a:spLocks noChangeArrowheads="1"/>
          </p:cNvSpPr>
          <p:nvPr userDrawn="1">
            <p:custDataLst>
              <p:tags r:id="rId1"/>
            </p:custDataLst>
          </p:nvPr>
        </p:nvSpPr>
        <p:spPr bwMode="gray">
          <a:xfrm>
            <a:off x="0" y="5060955"/>
            <a:ext cx="12189984" cy="1800225"/>
          </a:xfrm>
          <a:prstGeom prst="rect">
            <a:avLst/>
          </a:prstGeom>
          <a:solidFill>
            <a:srgbClr val="177B57"/>
          </a:solidFill>
          <a:ln w="9525" algn="ctr">
            <a:noFill/>
            <a:miter lim="800000"/>
            <a:headEnd/>
            <a:tailEnd/>
          </a:ln>
          <a:effectLst/>
        </p:spPr>
        <p:txBody>
          <a:bodyPr wrap="none" anchor="ctr"/>
          <a:lstStyle/>
          <a:p>
            <a:pPr>
              <a:defRPr/>
            </a:pPr>
            <a:endParaRPr lang="en-US" sz="1800"/>
          </a:p>
        </p:txBody>
      </p:sp>
      <p:pic>
        <p:nvPicPr>
          <p:cNvPr id="6" name="Picture 1"/>
          <p:cNvPicPr>
            <a:picLocks noChangeAspect="1" noChangeArrowheads="1"/>
          </p:cNvPicPr>
          <p:nvPr userDrawn="1"/>
        </p:nvPicPr>
        <p:blipFill>
          <a:blip r:embed="rId4" cstate="email"/>
          <a:srcRect/>
          <a:stretch>
            <a:fillRect/>
          </a:stretch>
        </p:blipFill>
        <p:spPr bwMode="auto">
          <a:xfrm>
            <a:off x="3425916" y="5819780"/>
            <a:ext cx="5385524" cy="258763"/>
          </a:xfrm>
          <a:prstGeom prst="rect">
            <a:avLst/>
          </a:prstGeom>
          <a:noFill/>
          <a:ln w="9525">
            <a:noFill/>
            <a:miter lim="800000"/>
            <a:headEnd/>
            <a:tailEnd/>
          </a:ln>
          <a:effectLst/>
        </p:spPr>
      </p:pic>
      <p:pic>
        <p:nvPicPr>
          <p:cNvPr id="7" name="Picture 7" descr="Training_Logo_RGB"/>
          <p:cNvPicPr>
            <a:picLocks noChangeAspect="1" noChangeArrowheads="1"/>
          </p:cNvPicPr>
          <p:nvPr userDrawn="1">
            <p:custDataLst>
              <p:tags r:id="rId2"/>
            </p:custDataLst>
          </p:nvPr>
        </p:nvPicPr>
        <p:blipFill>
          <a:blip r:embed="rId5" cstate="email"/>
          <a:srcRect/>
          <a:stretch>
            <a:fillRect/>
          </a:stretch>
        </p:blipFill>
        <p:spPr bwMode="auto">
          <a:xfrm>
            <a:off x="597878" y="677863"/>
            <a:ext cx="2307494" cy="1092200"/>
          </a:xfrm>
          <a:prstGeom prst="rect">
            <a:avLst/>
          </a:prstGeom>
          <a:noFill/>
          <a:ln w="9525">
            <a:noFill/>
            <a:miter lim="800000"/>
            <a:headEnd/>
            <a:tailEnd/>
          </a:ln>
        </p:spPr>
      </p:pic>
    </p:spTree>
    <p:extLst>
      <p:ext uri="{BB962C8B-B14F-4D97-AF65-F5344CB8AC3E}">
        <p14:creationId xmlns:p14="http://schemas.microsoft.com/office/powerpoint/2010/main" val="19724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14.xml"/><Relationship Id="rId7" Type="http://schemas.openxmlformats.org/officeDocument/2006/relationships/tags" Target="../tags/tag1.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image" Target="../media/image2.emf"/><Relationship Id="rId5" Type="http://schemas.openxmlformats.org/officeDocument/2006/relationships/slideLayout" Target="../slideLayouts/slideLayout16.xml"/><Relationship Id="rId10" Type="http://schemas.openxmlformats.org/officeDocument/2006/relationships/image" Target="../media/image1.emf"/><Relationship Id="rId4" Type="http://schemas.openxmlformats.org/officeDocument/2006/relationships/slideLayout" Target="../slideLayouts/slideLayout15.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4A4D3CD-0444-46D6-8B55-7B5D76E282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64B9DCC-1A0B-4218-8314-F984192A63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DD3572-1FA5-4134-A51F-C9A72D0D89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791855-52A9-44F9-A7AF-488F34AEEBEA}" type="datetime1">
              <a:rPr lang="fr-FR" smtClean="0"/>
              <a:t>13/01/2025</a:t>
            </a:fld>
            <a:endParaRPr lang="fr-FR"/>
          </a:p>
        </p:txBody>
      </p:sp>
      <p:sp>
        <p:nvSpPr>
          <p:cNvPr id="5" name="Espace réservé du pied de page 4">
            <a:extLst>
              <a:ext uri="{FF2B5EF4-FFF2-40B4-BE49-F238E27FC236}">
                <a16:creationId xmlns:a16="http://schemas.microsoft.com/office/drawing/2014/main" id="{7FCD6608-A6A1-4A8E-8395-9545EBF50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Institut National de la Statistique (INS) </a:t>
            </a:r>
          </a:p>
        </p:txBody>
      </p:sp>
      <p:sp>
        <p:nvSpPr>
          <p:cNvPr id="6" name="Espace réservé du numéro de diapositive 5">
            <a:extLst>
              <a:ext uri="{FF2B5EF4-FFF2-40B4-BE49-F238E27FC236}">
                <a16:creationId xmlns:a16="http://schemas.microsoft.com/office/drawing/2014/main" id="{5DD99130-3075-47B2-AA59-E9336DD756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0E3AFD-EB5A-4FC8-B8AD-6662596A3479}" type="slidenum">
              <a:rPr lang="fr-FR" smtClean="0"/>
              <a:t>‹N°›</a:t>
            </a:fld>
            <a:endParaRPr lang="fr-FR"/>
          </a:p>
        </p:txBody>
      </p:sp>
    </p:spTree>
    <p:extLst>
      <p:ext uri="{BB962C8B-B14F-4D97-AF65-F5344CB8AC3E}">
        <p14:creationId xmlns:p14="http://schemas.microsoft.com/office/powerpoint/2010/main" val="1387692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7"/>
            </p:custDataLst>
            <p:extLst>
              <p:ext uri="{D42A27DB-BD31-4B8C-83A1-F6EECF244321}">
                <p14:modId xmlns:p14="http://schemas.microsoft.com/office/powerpoint/2010/main" val="142925647"/>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1955" y="1589"/>
                        <a:ext cx="1953" cy="1587"/>
                      </a:xfrm>
                      <a:prstGeom prst="rect">
                        <a:avLst/>
                      </a:prstGeom>
                    </p:spPr>
                  </p:pic>
                </p:oleObj>
              </mc:Fallback>
            </mc:AlternateContent>
          </a:graphicData>
        </a:graphic>
      </p:graphicFrame>
      <p:sp>
        <p:nvSpPr>
          <p:cNvPr id="2" name="Title Placeholder 1"/>
          <p:cNvSpPr>
            <a:spLocks noGrp="1"/>
          </p:cNvSpPr>
          <p:nvPr>
            <p:ph type="title"/>
          </p:nvPr>
        </p:nvSpPr>
        <p:spPr>
          <a:xfrm>
            <a:off x="562707" y="162000"/>
            <a:ext cx="11068062" cy="831600"/>
          </a:xfrm>
          <a:prstGeom prst="rect">
            <a:avLst/>
          </a:prstGeom>
        </p:spPr>
        <p:txBody>
          <a:bodyPr vert="horz" lIns="0" tIns="45720" rIns="0" bIns="45720" rtlCol="0" anchor="b" anchorCtr="0">
            <a:noAutofit/>
          </a:bodyPr>
          <a:lstStyle/>
          <a:p>
            <a:r>
              <a:rPr lang="en-US" noProof="0"/>
              <a:t>Click to edit Master title style</a:t>
            </a:r>
          </a:p>
        </p:txBody>
      </p:sp>
      <p:sp>
        <p:nvSpPr>
          <p:cNvPr id="3" name="Text Placeholder 2"/>
          <p:cNvSpPr>
            <a:spLocks noGrp="1"/>
          </p:cNvSpPr>
          <p:nvPr>
            <p:ph type="body" idx="1"/>
          </p:nvPr>
        </p:nvSpPr>
        <p:spPr>
          <a:xfrm>
            <a:off x="562707" y="1508400"/>
            <a:ext cx="11068062" cy="45900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Line 115"/>
          <p:cNvSpPr>
            <a:spLocks noChangeShapeType="1"/>
          </p:cNvSpPr>
          <p:nvPr/>
        </p:nvSpPr>
        <p:spPr bwMode="auto">
          <a:xfrm flipH="1">
            <a:off x="0" y="1003300"/>
            <a:ext cx="12192000" cy="0"/>
          </a:xfrm>
          <a:prstGeom prst="line">
            <a:avLst/>
          </a:prstGeom>
          <a:noFill/>
          <a:ln w="28575">
            <a:solidFill>
              <a:schemeClr val="tx2"/>
            </a:solidFill>
            <a:round/>
            <a:headEnd/>
            <a:tailEnd/>
          </a:ln>
          <a:effectLst>
            <a:outerShdw dist="25400" dir="5400000" algn="ctr" rotWithShape="0">
              <a:schemeClr val="folHlink"/>
            </a:outerShdw>
          </a:effectLst>
        </p:spPr>
        <p:txBody>
          <a:bodyPr/>
          <a:lstStyle/>
          <a:p>
            <a:endParaRPr lang="en-US" sz="1800" noProof="0"/>
          </a:p>
        </p:txBody>
      </p:sp>
      <p:pic>
        <p:nvPicPr>
          <p:cNvPr id="9" name="Picture 119" descr="BCG_Logotype_Regular_RGB"/>
          <p:cNvPicPr>
            <a:picLocks noChangeAspect="1" noChangeArrowheads="1"/>
          </p:cNvPicPr>
          <p:nvPr/>
        </p:nvPicPr>
        <p:blipFill>
          <a:blip r:embed="rId11" cstate="screen"/>
          <a:srcRect/>
          <a:stretch>
            <a:fillRect/>
          </a:stretch>
        </p:blipFill>
        <p:spPr bwMode="auto">
          <a:xfrm>
            <a:off x="4822093" y="6675438"/>
            <a:ext cx="2547815" cy="125412"/>
          </a:xfrm>
          <a:prstGeom prst="rect">
            <a:avLst/>
          </a:prstGeom>
          <a:noFill/>
        </p:spPr>
      </p:pic>
      <p:sp>
        <p:nvSpPr>
          <p:cNvPr id="10" name="TextBox 9"/>
          <p:cNvSpPr txBox="1"/>
          <p:nvPr/>
        </p:nvSpPr>
        <p:spPr>
          <a:xfrm>
            <a:off x="11395938" y="6674400"/>
            <a:ext cx="234462" cy="127000"/>
          </a:xfrm>
          <a:prstGeom prst="rect">
            <a:avLst/>
          </a:prstGeom>
          <a:noFill/>
          <a:ln/>
          <a:effectLst/>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53E389-1311-4796-9190-1F74A8EADEA2}" type="slidenum">
              <a:rPr kumimoji="0" lang="en-US" sz="900" b="0" i="0" u="none" strike="noStrike" kern="1200" cap="none" spc="0" normalizeH="0" baseline="0" noProof="0" smtClean="0">
                <a:ln>
                  <a:noFill/>
                </a:ln>
                <a:solidFill>
                  <a:srgbClr val="000000"/>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en-US" sz="900" b="0" i="0" u="none" strike="noStrike" kern="1200" cap="none" spc="0" normalizeH="0" baseline="0" noProof="0">
              <a:ln>
                <a:noFill/>
              </a:ln>
              <a:solidFill>
                <a:srgbClr val="000000"/>
              </a:solidFill>
              <a:effectLst/>
              <a:uLnTx/>
              <a:uFillTx/>
              <a:latin typeface="+mn-lt"/>
              <a:ea typeface="+mn-ea"/>
              <a:cs typeface="+mn-cs"/>
            </a:endParaRPr>
          </a:p>
          <a:p>
            <a:endParaRPr lang="en-US" sz="900">
              <a:latin typeface="Arial"/>
            </a:endParaRPr>
          </a:p>
        </p:txBody>
      </p:sp>
      <p:sp>
        <p:nvSpPr>
          <p:cNvPr id="12" name="Rectangle 4"/>
          <p:cNvSpPr>
            <a:spLocks noChangeArrowheads="1"/>
          </p:cNvSpPr>
          <p:nvPr>
            <p:custDataLst>
              <p:tags r:id="rId8"/>
            </p:custDataLst>
          </p:nvPr>
        </p:nvSpPr>
        <p:spPr bwMode="gray">
          <a:xfrm rot="16200000">
            <a:off x="9717149" y="4226475"/>
            <a:ext cx="4560888" cy="248138"/>
          </a:xfrm>
          <a:prstGeom prst="rect">
            <a:avLst/>
          </a:prstGeom>
          <a:noFill/>
          <a:ln w="9525" algn="ctr">
            <a:noFill/>
            <a:miter lim="800000"/>
            <a:headEnd type="none" w="lg" len="lg"/>
            <a:tailEnd type="none" w="lg" len="lg"/>
          </a:ln>
        </p:spPr>
        <p:txBody>
          <a:bodyPr anchor="b"/>
          <a:lstStyle/>
          <a:p>
            <a:r>
              <a:rPr lang="en-US" sz="700">
                <a:solidFill>
                  <a:srgbClr val="808080"/>
                </a:solidFill>
              </a:rPr>
              <a:t>Copyright © 2012 by The Boston Consulting Group, Inc. All rights reserved.</a:t>
            </a:r>
          </a:p>
        </p:txBody>
      </p:sp>
    </p:spTree>
    <p:extLst>
      <p:ext uri="{BB962C8B-B14F-4D97-AF65-F5344CB8AC3E}">
        <p14:creationId xmlns:p14="http://schemas.microsoft.com/office/powerpoint/2010/main" val="324336112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hf sldNum="0" hdr="0"/>
  <p:txStyles>
    <p:titleStyle>
      <a:lvl1pPr algn="l" defTabSz="914400" rtl="0" eaLnBrk="1" latinLnBrk="0" hangingPunct="1">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spcBef>
          <a:spcPct val="20000"/>
        </a:spcBef>
        <a:buFontTx/>
        <a:buNone/>
        <a:defRPr sz="1600" b="1" kern="1200">
          <a:solidFill>
            <a:schemeClr val="tx1"/>
          </a:solidFill>
          <a:latin typeface="+mn-lt"/>
          <a:ea typeface="+mn-ea"/>
          <a:cs typeface="+mn-cs"/>
        </a:defRPr>
      </a:lvl1pPr>
      <a:lvl2pPr marL="457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2pPr>
      <a:lvl3pPr marL="9144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3pPr>
      <a:lvl4pPr marL="1376363" indent="-233362"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4pPr>
      <a:lvl5pPr marL="2058988" indent="-230188"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0.jpeg"/><Relationship Id="rId4" Type="http://schemas.openxmlformats.org/officeDocument/2006/relationships/image" Target="../media/image9.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e la date 8">
            <a:extLst>
              <a:ext uri="{FF2B5EF4-FFF2-40B4-BE49-F238E27FC236}">
                <a16:creationId xmlns:a16="http://schemas.microsoft.com/office/drawing/2014/main" id="{6D232D44-5CBB-4E8B-85AB-B8649BF67E65}"/>
              </a:ext>
            </a:extLst>
          </p:cNvPr>
          <p:cNvSpPr>
            <a:spLocks noGrp="1"/>
          </p:cNvSpPr>
          <p:nvPr>
            <p:ph type="dt" sz="half" idx="10"/>
          </p:nvPr>
        </p:nvSpPr>
        <p:spPr/>
        <p:txBody>
          <a:bodyPr/>
          <a:lstStyle/>
          <a:p>
            <a:fld id="{DA869257-6741-4F04-BB93-6E95E4B58193}" type="datetime1">
              <a:rPr lang="fr-FR" smtClean="0"/>
              <a:t>13/01/2025</a:t>
            </a:fld>
            <a:endParaRPr lang="fr-FR" dirty="0"/>
          </a:p>
        </p:txBody>
      </p:sp>
      <p:pic>
        <p:nvPicPr>
          <p:cNvPr id="5121" name="Image 2">
            <a:extLst>
              <a:ext uri="{FF2B5EF4-FFF2-40B4-BE49-F238E27FC236}">
                <a16:creationId xmlns:a16="http://schemas.microsoft.com/office/drawing/2014/main" id="{7432B66C-B198-4CCD-AC73-6C8B4E97E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2890" b="26602"/>
          <a:stretch>
            <a:fillRect/>
          </a:stretch>
        </p:blipFill>
        <p:spPr bwMode="auto">
          <a:xfrm>
            <a:off x="7519988" y="1787050"/>
            <a:ext cx="2111375" cy="684212"/>
          </a:xfrm>
          <a:prstGeom prst="rect">
            <a:avLst/>
          </a:prstGeom>
          <a:noFill/>
          <a:extLst>
            <a:ext uri="{909E8E84-426E-40DD-AFC4-6F175D3DCCD1}">
              <a14:hiddenFill xmlns:a14="http://schemas.microsoft.com/office/drawing/2010/main">
                <a:solidFill>
                  <a:srgbClr val="FFFFFF"/>
                </a:solidFill>
              </a14:hiddenFill>
            </a:ext>
          </a:extLst>
        </p:spPr>
      </p:pic>
      <p:pic>
        <p:nvPicPr>
          <p:cNvPr id="5126" name="Image 4" descr="bandeO">
            <a:extLst>
              <a:ext uri="{FF2B5EF4-FFF2-40B4-BE49-F238E27FC236}">
                <a16:creationId xmlns:a16="http://schemas.microsoft.com/office/drawing/2014/main" id="{CD401FCD-7D49-49F5-BD3B-31769F3ED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668" y="711199"/>
            <a:ext cx="863600" cy="381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A7CED64C-F07A-4E6C-8C62-A6335AA3108C}"/>
              </a:ext>
            </a:extLst>
          </p:cNvPr>
          <p:cNvSpPr>
            <a:spLocks/>
          </p:cNvSpPr>
          <p:nvPr/>
        </p:nvSpPr>
        <p:spPr bwMode="auto">
          <a:xfrm>
            <a:off x="7367588" y="2748916"/>
            <a:ext cx="2781300" cy="334963"/>
          </a:xfrm>
          <a:prstGeom prst="rect">
            <a:avLst/>
          </a:prstGeom>
          <a:solidFill>
            <a:srgbClr val="FFFFFF"/>
          </a:solidFill>
          <a:ln w="635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PROJET D’HARMONISATION ET D’AMELIORATION </a:t>
            </a:r>
            <a:endParaRPr kumimoji="0" lang="fr-FR" altLang="fr-FR" sz="800" b="1"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DES STATISTIQUES (PHAS)</a:t>
            </a:r>
            <a:endParaRPr kumimoji="0" lang="fr-FR" altLang="fr-FR"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5" name="Rectangle 14">
            <a:extLst>
              <a:ext uri="{FF2B5EF4-FFF2-40B4-BE49-F238E27FC236}">
                <a16:creationId xmlns:a16="http://schemas.microsoft.com/office/drawing/2014/main" id="{47AD5418-2873-4039-BA73-51F49146AB04}"/>
              </a:ext>
            </a:extLst>
          </p:cNvPr>
          <p:cNvSpPr>
            <a:spLocks noChangeArrowheads="1"/>
          </p:cNvSpPr>
          <p:nvPr/>
        </p:nvSpPr>
        <p:spPr bwMode="auto">
          <a:xfrm>
            <a:off x="4438968" y="238124"/>
            <a:ext cx="2667000" cy="640080"/>
          </a:xfrm>
          <a:prstGeom prst="rect">
            <a:avLst/>
          </a:prstGeom>
          <a:noFill/>
          <a:ln>
            <a:noFill/>
          </a:ln>
        </p:spPr>
        <p:txBody>
          <a:bodyPr rot="0" vert="horz" wrap="square" lIns="91440" tIns="45720" rIns="91440" bIns="45720" anchor="t" anchorCtr="0" upright="1">
            <a:noAutofit/>
          </a:bodyPr>
          <a:lstStyle/>
          <a:p>
            <a:pPr algn="ctr"/>
            <a:r>
              <a:rPr lang="fr-FR" sz="1000" b="1">
                <a:effectLst/>
                <a:latin typeface="Times New Roman" panose="02020603050405020304" pitchFamily="18" charset="0"/>
                <a:ea typeface="Times New Roman" panose="02020603050405020304" pitchFamily="18" charset="0"/>
              </a:rPr>
              <a:t>REPUBLIQUE DE COTE D’IVOIRE        Union-Discipline-Travail</a:t>
            </a:r>
            <a:endParaRPr lang="fr-FR" sz="1200">
              <a:effectLst/>
              <a:latin typeface="Times New Roman" panose="02020603050405020304" pitchFamily="18" charset="0"/>
              <a:ea typeface="Times New Roman" panose="02020603050405020304" pitchFamily="18" charset="0"/>
            </a:endParaRPr>
          </a:p>
        </p:txBody>
      </p:sp>
      <p:sp>
        <p:nvSpPr>
          <p:cNvPr id="6" name="Rectangle 7">
            <a:extLst>
              <a:ext uri="{FF2B5EF4-FFF2-40B4-BE49-F238E27FC236}">
                <a16:creationId xmlns:a16="http://schemas.microsoft.com/office/drawing/2014/main" id="{30D046BE-FC12-420D-83C5-CDA04398FC7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8">
            <a:extLst>
              <a:ext uri="{FF2B5EF4-FFF2-40B4-BE49-F238E27FC236}">
                <a16:creationId xmlns:a16="http://schemas.microsoft.com/office/drawing/2014/main" id="{5C85C34C-D29C-4691-A1F7-CC4ADC08E57B}"/>
              </a:ext>
            </a:extLst>
          </p:cNvPr>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4" name="Rectangle 10">
            <a:extLst>
              <a:ext uri="{FF2B5EF4-FFF2-40B4-BE49-F238E27FC236}">
                <a16:creationId xmlns:a16="http://schemas.microsoft.com/office/drawing/2014/main" id="{CFE82DDC-A4DC-4DE7-A228-C1CE93CFBBF9}"/>
              </a:ext>
            </a:extLst>
          </p:cNvPr>
          <p:cNvSpPr>
            <a:spLocks noChangeArrowheads="1"/>
          </p:cNvSpPr>
          <p:nvPr/>
        </p:nvSpPr>
        <p:spPr bwMode="auto">
          <a:xfrm>
            <a:off x="2958957" y="455725"/>
            <a:ext cx="5589096" cy="109260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1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MINISTERE D</a:t>
            </a:r>
            <a:r>
              <a:rPr lang="fr-FR" altLang="fr-FR" sz="1100" b="1" dirty="0">
                <a:latin typeface="Arial" panose="020B0604020202020204" pitchFamily="34" charset="0"/>
                <a:ea typeface="Times New Roman" panose="02020603050405020304" pitchFamily="18" charset="0"/>
              </a:rPr>
              <a:t>E L’ECONOMIE, DU PLAN</a:t>
            </a:r>
            <a:r>
              <a:rPr kumimoji="0" lang="fr-FR" altLang="fr-FR" sz="11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ET DU DEVELOPPEMENT </a:t>
            </a:r>
            <a:endParaRPr kumimoji="0" lang="fr-FR" altLang="fr-FR"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07AC87A2-3931-4576-AB11-DF812DDF9B73}"/>
              </a:ext>
            </a:extLst>
          </p:cNvPr>
          <p:cNvSpPr>
            <a:spLocks noChangeArrowheads="1"/>
          </p:cNvSpPr>
          <p:nvPr/>
        </p:nvSpPr>
        <p:spPr bwMode="auto">
          <a:xfrm>
            <a:off x="5293935" y="1193585"/>
            <a:ext cx="9570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a:t>
            </a:r>
            <a:endParaRPr kumimoji="0" lang="fr-FR" altLang="fr-FR"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8" name="Rectangle 15">
            <a:extLst>
              <a:ext uri="{FF2B5EF4-FFF2-40B4-BE49-F238E27FC236}">
                <a16:creationId xmlns:a16="http://schemas.microsoft.com/office/drawing/2014/main" id="{8E6BAACA-24B0-4092-B061-0B27574C721B}"/>
              </a:ext>
            </a:extLst>
          </p:cNvPr>
          <p:cNvSpPr>
            <a:spLocks noChangeArrowheads="1"/>
          </p:cNvSpPr>
          <p:nvPr/>
        </p:nvSpPr>
        <p:spPr bwMode="auto">
          <a:xfrm>
            <a:off x="0" y="14097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br>
              <a:rPr kumimoji="0" lang="fr-FR" altLang="fr-FR"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fr-FR" altLang="fr-FR"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 </a:t>
            </a:r>
            <a:endParaRPr kumimoji="0" lang="fr-FR" altLang="fr-FR"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2" name="ZoneTexte 21">
            <a:extLst>
              <a:ext uri="{FF2B5EF4-FFF2-40B4-BE49-F238E27FC236}">
                <a16:creationId xmlns:a16="http://schemas.microsoft.com/office/drawing/2014/main" id="{D256E647-8491-4231-BF3A-A52D0ABEDC97}"/>
              </a:ext>
            </a:extLst>
          </p:cNvPr>
          <p:cNvSpPr txBox="1"/>
          <p:nvPr/>
        </p:nvSpPr>
        <p:spPr>
          <a:xfrm>
            <a:off x="1548227" y="3280558"/>
            <a:ext cx="8600661" cy="1015663"/>
          </a:xfrm>
          <a:prstGeom prst="rect">
            <a:avLst/>
          </a:prstGeom>
          <a:noFill/>
        </p:spPr>
        <p:txBody>
          <a:bodyPr wrap="square" rtlCol="0">
            <a:spAutoFit/>
          </a:bodyPr>
          <a:lstStyle/>
          <a:p>
            <a:pPr algn="ctr"/>
            <a:r>
              <a:rPr lang="fr-FR" sz="2000" dirty="0">
                <a:latin typeface="Book Antiqua" panose="02040602050305030304" pitchFamily="18" charset="0"/>
              </a:rPr>
              <a:t>RAPPORT D’ANALYSE DES INDICATEURS DU MARCHE DU TRAVAIL IVOIRIEN AU MOYEN DES DONNEES DE L’ENQUETE NATIONALE SUR L’EMPLOI AUPRES DES MENAGES (ENEM)</a:t>
            </a:r>
            <a:endParaRPr lang="fr-CI" sz="2000" dirty="0">
              <a:latin typeface="Book Antiqua" panose="02040602050305030304" pitchFamily="18" charset="0"/>
            </a:endParaRPr>
          </a:p>
        </p:txBody>
      </p:sp>
      <p:pic>
        <p:nvPicPr>
          <p:cNvPr id="23" name="Image 22">
            <a:extLst>
              <a:ext uri="{FF2B5EF4-FFF2-40B4-BE49-F238E27FC236}">
                <a16:creationId xmlns:a16="http://schemas.microsoft.com/office/drawing/2014/main" id="{63B97902-9CAE-4CC6-A871-8D5259954509}"/>
              </a:ext>
            </a:extLst>
          </p:cNvPr>
          <p:cNvPicPr>
            <a:picLocks noChangeAspect="1"/>
          </p:cNvPicPr>
          <p:nvPr/>
        </p:nvPicPr>
        <p:blipFill>
          <a:blip r:embed="rId4"/>
          <a:srcRect/>
          <a:stretch>
            <a:fillRect/>
          </a:stretch>
        </p:blipFill>
        <p:spPr bwMode="auto">
          <a:xfrm>
            <a:off x="3696866" y="4965532"/>
            <a:ext cx="867410" cy="954107"/>
          </a:xfrm>
          <a:prstGeom prst="rect">
            <a:avLst/>
          </a:prstGeom>
          <a:noFill/>
          <a:ln w="9525">
            <a:noFill/>
            <a:miter lim="800000"/>
            <a:headEnd/>
            <a:tailEnd/>
          </a:ln>
        </p:spPr>
      </p:pic>
      <p:pic>
        <p:nvPicPr>
          <p:cNvPr id="24" name="Image 23" descr="Résultat de recherche d'images pour &quot;DGE | Direction Générale de l'Emploi, images&quot;">
            <a:extLst>
              <a:ext uri="{FF2B5EF4-FFF2-40B4-BE49-F238E27FC236}">
                <a16:creationId xmlns:a16="http://schemas.microsoft.com/office/drawing/2014/main" id="{1A49489F-0EE1-4C0C-90B9-C8024341524E}"/>
              </a:ext>
            </a:extLst>
          </p:cNvPr>
          <p:cNvPicPr>
            <a:picLocks noChangeAspect="1"/>
          </p:cNvPicPr>
          <p:nvPr/>
        </p:nvPicPr>
        <p:blipFill>
          <a:blip r:embed="rId5">
            <a:extLst>
              <a:ext uri="{28A0092B-C50C-407E-A947-70E740481C1C}">
                <a14:useLocalDpi xmlns:a14="http://schemas.microsoft.com/office/drawing/2010/main" val="0"/>
              </a:ext>
            </a:extLst>
          </a:blip>
          <a:srcRect l="10480" t="9273" r="9581" b="5960"/>
          <a:stretch>
            <a:fillRect/>
          </a:stretch>
        </p:blipFill>
        <p:spPr bwMode="auto">
          <a:xfrm>
            <a:off x="5020309" y="5123860"/>
            <a:ext cx="1504315" cy="647065"/>
          </a:xfrm>
          <a:prstGeom prst="rect">
            <a:avLst/>
          </a:prstGeom>
          <a:noFill/>
          <a:ln>
            <a:noFill/>
          </a:ln>
        </p:spPr>
      </p:pic>
      <p:pic>
        <p:nvPicPr>
          <p:cNvPr id="25" name="Image 24">
            <a:extLst>
              <a:ext uri="{FF2B5EF4-FFF2-40B4-BE49-F238E27FC236}">
                <a16:creationId xmlns:a16="http://schemas.microsoft.com/office/drawing/2014/main" id="{441FF4F2-B235-43EB-B68A-E7D9F9C53C1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76428" y="5066710"/>
            <a:ext cx="1571625" cy="704215"/>
          </a:xfrm>
          <a:prstGeom prst="rect">
            <a:avLst/>
          </a:prstGeom>
          <a:noFill/>
          <a:ln>
            <a:noFill/>
          </a:ln>
        </p:spPr>
      </p:pic>
      <p:pic>
        <p:nvPicPr>
          <p:cNvPr id="4" name="Image 3">
            <a:extLst>
              <a:ext uri="{FF2B5EF4-FFF2-40B4-BE49-F238E27FC236}">
                <a16:creationId xmlns:a16="http://schemas.microsoft.com/office/drawing/2014/main" id="{1EDF52AC-7B9A-75C2-75BB-89D44B193096}"/>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57441" y="1976247"/>
            <a:ext cx="1493520" cy="635000"/>
          </a:xfrm>
          <a:prstGeom prst="rect">
            <a:avLst/>
          </a:prstGeom>
          <a:noFill/>
          <a:ln>
            <a:noFill/>
          </a:ln>
        </p:spPr>
      </p:pic>
      <p:sp>
        <p:nvSpPr>
          <p:cNvPr id="5" name="ZoneTexte 4">
            <a:extLst>
              <a:ext uri="{FF2B5EF4-FFF2-40B4-BE49-F238E27FC236}">
                <a16:creationId xmlns:a16="http://schemas.microsoft.com/office/drawing/2014/main" id="{059C7C86-140E-56E9-0838-291557F63A66}"/>
              </a:ext>
            </a:extLst>
          </p:cNvPr>
          <p:cNvSpPr txBox="1"/>
          <p:nvPr/>
        </p:nvSpPr>
        <p:spPr>
          <a:xfrm>
            <a:off x="1684535" y="2589739"/>
            <a:ext cx="3609400" cy="276999"/>
          </a:xfrm>
          <a:prstGeom prst="rect">
            <a:avLst/>
          </a:prstGeom>
          <a:noFill/>
        </p:spPr>
        <p:txBody>
          <a:bodyPr wrap="square" rtlCol="0">
            <a:spAutoFit/>
          </a:bodyPr>
          <a:lstStyle/>
          <a:p>
            <a:pPr algn="ctr"/>
            <a:r>
              <a:rPr lang="fr-FR" sz="1200" b="1" dirty="0">
                <a:latin typeface="Arial" panose="020B0604020202020204" pitchFamily="34" charset="0"/>
                <a:cs typeface="Arial" panose="020B0604020202020204" pitchFamily="34" charset="0"/>
              </a:rPr>
              <a:t>Agence National de la Statistique </a:t>
            </a:r>
          </a:p>
        </p:txBody>
      </p:sp>
      <p:sp>
        <p:nvSpPr>
          <p:cNvPr id="7" name="Espace réservé du pied de page 1">
            <a:extLst>
              <a:ext uri="{FF2B5EF4-FFF2-40B4-BE49-F238E27FC236}">
                <a16:creationId xmlns:a16="http://schemas.microsoft.com/office/drawing/2014/main" id="{3BDEBA7F-C2E1-1240-6BC8-C6B330D63B88}"/>
              </a:ext>
            </a:extLst>
          </p:cNvPr>
          <p:cNvSpPr txBox="1">
            <a:spLocks/>
          </p:cNvSpPr>
          <p:nvPr/>
        </p:nvSpPr>
        <p:spPr>
          <a:xfrm>
            <a:off x="4130571" y="6037150"/>
            <a:ext cx="4114800" cy="365125"/>
          </a:xfrm>
          <a:prstGeom prst="rect">
            <a:avLst/>
          </a:prstGeom>
        </p:spPr>
        <p:txBody>
          <a:bodyPr vert="horz" lIns="91440" tIns="45720" rIns="91440" bIns="45720" rtlCol="0" anchor="ctr"/>
          <a:lstStyle>
            <a:defPPr>
              <a:defRPr lang="fr-F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2858657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DB22CA3F-F7E1-46B3-AA70-5DB9B52859CA}"/>
              </a:ext>
            </a:extLst>
          </p:cNvPr>
          <p:cNvSpPr>
            <a:spLocks noGrp="1"/>
          </p:cNvSpPr>
          <p:nvPr>
            <p:ph type="dt" sz="half" idx="10"/>
          </p:nvPr>
        </p:nvSpPr>
        <p:spPr/>
        <p:txBody>
          <a:bodyPr/>
          <a:lstStyle/>
          <a:p>
            <a:fld id="{9931885C-8E04-434A-9CCE-E10F6EB95CAF}"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2DD0105C-E812-4D23-8E57-0225867E1D7C}"/>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94A7BDC-3A28-4605-8C81-7B2F8FB675DD}"/>
              </a:ext>
            </a:extLst>
          </p:cNvPr>
          <p:cNvSpPr txBox="1"/>
          <p:nvPr/>
        </p:nvSpPr>
        <p:spPr>
          <a:xfrm>
            <a:off x="1530192" y="360943"/>
            <a:ext cx="6973728" cy="461665"/>
          </a:xfrm>
          <a:prstGeom prst="rect">
            <a:avLst/>
          </a:prstGeom>
          <a:noFill/>
        </p:spPr>
        <p:txBody>
          <a:bodyPr wrap="square">
            <a:spAutoFit/>
          </a:bodyPr>
          <a:lstStyle/>
          <a:p>
            <a:r>
              <a:rPr lang="en-US" sz="2400" b="1" i="1" dirty="0">
                <a:solidFill>
                  <a:schemeClr val="accent1"/>
                </a:solidFill>
                <a:latin typeface="Garamond" panose="02020404030301010803" pitchFamily="18" charset="0"/>
              </a:rPr>
              <a:t>Plan de </a:t>
            </a:r>
            <a:r>
              <a:rPr lang="en-US" sz="2400" b="1" i="1" dirty="0" err="1">
                <a:solidFill>
                  <a:schemeClr val="accent1"/>
                </a:solidFill>
                <a:latin typeface="Garamond" panose="02020404030301010803" pitchFamily="18" charset="0"/>
              </a:rPr>
              <a:t>présentation</a:t>
            </a:r>
            <a:endParaRPr lang="fr-FR" sz="2000" i="1" dirty="0">
              <a:solidFill>
                <a:schemeClr val="accent1"/>
              </a:solidFill>
              <a:latin typeface="Garamond" panose="02020404030301010803" pitchFamily="18" charset="0"/>
            </a:endParaRPr>
          </a:p>
        </p:txBody>
      </p:sp>
      <p:sp>
        <p:nvSpPr>
          <p:cNvPr id="7" name="Rectangle 3">
            <a:extLst>
              <a:ext uri="{FF2B5EF4-FFF2-40B4-BE49-F238E27FC236}">
                <a16:creationId xmlns:a16="http://schemas.microsoft.com/office/drawing/2014/main" id="{F3363EB3-BF9F-4CC9-9239-2E89B24B1507}"/>
              </a:ext>
            </a:extLst>
          </p:cNvPr>
          <p:cNvSpPr>
            <a:spLocks noChangeArrowheads="1"/>
          </p:cNvSpPr>
          <p:nvPr/>
        </p:nvSpPr>
        <p:spPr bwMode="gray">
          <a:xfrm>
            <a:off x="1530192" y="1798727"/>
            <a:ext cx="9483970" cy="3724096"/>
          </a:xfrm>
          <a:prstGeom prst="rect">
            <a:avLst/>
          </a:prstGeom>
          <a:noFill/>
          <a:ln w="12700" algn="ctr">
            <a:noFill/>
            <a:miter lim="800000"/>
            <a:headEnd type="none" w="lg" len="lg"/>
            <a:tailEnd type="none" w="lg" len="lg"/>
          </a:ln>
        </p:spPr>
        <p:txBody>
          <a:bodyPr wrap="square" lIns="457200" tIns="228600" bIns="228600" anchor="ctr">
            <a:spAutoFit/>
          </a:bodyPr>
          <a:lstStyle/>
          <a:p>
            <a:pPr>
              <a:spcBef>
                <a:spcPct val="20000"/>
              </a:spcBef>
              <a:buClr>
                <a:srgbClr val="B2B2B2"/>
              </a:buClr>
            </a:pPr>
            <a:r>
              <a:rPr lang="en-US" sz="2000" b="1" dirty="0">
                <a:latin typeface="Garamond" panose="02020404030301010803" pitchFamily="18" charset="0"/>
                <a:cs typeface="Arial" pitchFamily="34" charset="0"/>
              </a:rPr>
              <a:t>1. Contexte</a:t>
            </a:r>
          </a:p>
          <a:p>
            <a:pPr>
              <a:spcBef>
                <a:spcPct val="20000"/>
              </a:spcBef>
              <a:buClr>
                <a:srgbClr val="B2B2B2"/>
              </a:buClr>
            </a:pPr>
            <a:endParaRPr lang="en-US" sz="2000" b="1" dirty="0">
              <a:latin typeface="Garamond" panose="02020404030301010803" pitchFamily="18" charset="0"/>
              <a:cs typeface="Arial" pitchFamily="34" charset="0"/>
            </a:endParaRPr>
          </a:p>
          <a:p>
            <a:pPr>
              <a:spcBef>
                <a:spcPct val="20000"/>
              </a:spcBef>
              <a:buClr>
                <a:srgbClr val="B2B2B2"/>
              </a:buClr>
            </a:pPr>
            <a:r>
              <a:rPr lang="en-US" sz="2000" b="1" dirty="0">
                <a:latin typeface="Garamond" panose="02020404030301010803" pitchFamily="18" charset="0"/>
                <a:cs typeface="Arial" pitchFamily="34" charset="0"/>
              </a:rPr>
              <a:t>2. </a:t>
            </a:r>
            <a:r>
              <a:rPr lang="fr-FR" sz="2000" b="1" dirty="0">
                <a:latin typeface="Garamond" panose="02020404030301010803" pitchFamily="18" charset="0"/>
                <a:cs typeface="Arial" pitchFamily="34" charset="0"/>
              </a:rPr>
              <a:t>Indicateurs du marché du travail Ivoirien</a:t>
            </a:r>
            <a:endParaRPr lang="fr-FR" sz="2000" b="1" dirty="0">
              <a:latin typeface="Garamond" panose="02020404030301010803" pitchFamily="18" charset="0"/>
            </a:endParaRPr>
          </a:p>
          <a:p>
            <a:pPr>
              <a:spcBef>
                <a:spcPct val="20000"/>
              </a:spcBef>
              <a:buClr>
                <a:srgbClr val="B2B2B2"/>
              </a:buClr>
            </a:pPr>
            <a:endParaRPr lang="en-US" sz="2000" b="1" dirty="0">
              <a:latin typeface="Garamond" panose="02020404030301010803" pitchFamily="18" charset="0"/>
              <a:cs typeface="Arial" pitchFamily="34" charset="0"/>
            </a:endParaRPr>
          </a:p>
          <a:p>
            <a:pPr>
              <a:spcBef>
                <a:spcPct val="20000"/>
              </a:spcBef>
              <a:buClr>
                <a:srgbClr val="B2B2B2"/>
              </a:buClr>
            </a:pPr>
            <a:r>
              <a:rPr lang="en-US" sz="2000" b="1" dirty="0">
                <a:latin typeface="Garamond" panose="02020404030301010803" pitchFamily="18" charset="0"/>
                <a:cs typeface="Arial" pitchFamily="34" charset="0"/>
              </a:rPr>
              <a:t>3. </a:t>
            </a:r>
            <a:r>
              <a:rPr lang="fr-FR" sz="2000" b="1" dirty="0">
                <a:latin typeface="Garamond" panose="02020404030301010803" pitchFamily="18" charset="0"/>
                <a:cs typeface="Arial" pitchFamily="34" charset="0"/>
              </a:rPr>
              <a:t>Modification apportée au calcul du taux de chomage </a:t>
            </a:r>
            <a:endParaRPr lang="en-US" sz="2000" b="1" dirty="0">
              <a:latin typeface="Garamond" panose="02020404030301010803" pitchFamily="18" charset="0"/>
              <a:cs typeface="Arial" pitchFamily="34" charset="0"/>
            </a:endParaRPr>
          </a:p>
          <a:p>
            <a:pPr>
              <a:spcBef>
                <a:spcPct val="20000"/>
              </a:spcBef>
              <a:buClr>
                <a:srgbClr val="B2B2B2"/>
              </a:buClr>
            </a:pPr>
            <a:endParaRPr lang="en-US" sz="2000" b="1" dirty="0">
              <a:latin typeface="Garamond" panose="02020404030301010803" pitchFamily="18" charset="0"/>
              <a:cs typeface="Arial" pitchFamily="34" charset="0"/>
            </a:endParaRPr>
          </a:p>
          <a:p>
            <a:pPr>
              <a:spcBef>
                <a:spcPct val="20000"/>
              </a:spcBef>
              <a:buClr>
                <a:srgbClr val="B2B2B2"/>
              </a:buClr>
            </a:pPr>
            <a:r>
              <a:rPr lang="en-US" sz="2000" b="1" dirty="0">
                <a:latin typeface="Garamond" panose="02020404030301010803" pitchFamily="18" charset="0"/>
                <a:cs typeface="Arial" pitchFamily="34" charset="0"/>
              </a:rPr>
              <a:t>4. </a:t>
            </a:r>
            <a:r>
              <a:rPr lang="fr-FR" sz="2000" b="1" dirty="0">
                <a:latin typeface="Garamond" panose="02020404030301010803" pitchFamily="18" charset="0"/>
                <a:cs typeface="Arial" pitchFamily="34" charset="0"/>
              </a:rPr>
              <a:t>Inconsistances observées sur certains indicateurs</a:t>
            </a:r>
            <a:endParaRPr lang="en-US" sz="2000" b="1" dirty="0">
              <a:latin typeface="Garamond" panose="02020404030301010803" pitchFamily="18" charset="0"/>
              <a:cs typeface="Arial" pitchFamily="34" charset="0"/>
            </a:endParaRPr>
          </a:p>
          <a:p>
            <a:pPr>
              <a:spcBef>
                <a:spcPct val="20000"/>
              </a:spcBef>
              <a:buClr>
                <a:srgbClr val="B2B2B2"/>
              </a:buClr>
            </a:pPr>
            <a:endParaRPr lang="en-US" sz="2000" dirty="0">
              <a:latin typeface="Garamond" panose="02020404030301010803" pitchFamily="18" charset="0"/>
              <a:cs typeface="Arial" pitchFamily="34" charset="0"/>
            </a:endParaRPr>
          </a:p>
          <a:p>
            <a:pPr>
              <a:spcBef>
                <a:spcPct val="20000"/>
              </a:spcBef>
              <a:buClr>
                <a:srgbClr val="B2B2B2"/>
              </a:buClr>
            </a:pPr>
            <a:r>
              <a:rPr lang="en-US" sz="2000" b="1" dirty="0">
                <a:latin typeface="Garamond" panose="02020404030301010803" pitchFamily="18" charset="0"/>
                <a:cs typeface="Arial" pitchFamily="34" charset="0"/>
              </a:rPr>
              <a:t>5. Note explicative sur la hausse du chomage entre 2013 et 2024</a:t>
            </a:r>
          </a:p>
        </p:txBody>
      </p:sp>
      <p:sp>
        <p:nvSpPr>
          <p:cNvPr id="2" name="Espace réservé du pied de page 1">
            <a:extLst>
              <a:ext uri="{FF2B5EF4-FFF2-40B4-BE49-F238E27FC236}">
                <a16:creationId xmlns:a16="http://schemas.microsoft.com/office/drawing/2014/main" id="{622680EA-5761-473D-8589-242A232C2B81}"/>
              </a:ext>
            </a:extLst>
          </p:cNvPr>
          <p:cNvSpPr>
            <a:spLocks noGrp="1"/>
          </p:cNvSpPr>
          <p:nvPr>
            <p:ph type="ftr" sz="quarter" idx="11"/>
          </p:nvPr>
        </p:nvSpPr>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452836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DB22CA3F-F7E1-46B3-AA70-5DB9B52859CA}"/>
              </a:ext>
            </a:extLst>
          </p:cNvPr>
          <p:cNvSpPr>
            <a:spLocks noGrp="1"/>
          </p:cNvSpPr>
          <p:nvPr>
            <p:ph type="dt" sz="half" idx="10"/>
          </p:nvPr>
        </p:nvSpPr>
        <p:spPr/>
        <p:txBody>
          <a:bodyPr/>
          <a:lstStyle/>
          <a:p>
            <a:fld id="{F8BF47FA-A1CB-4C8C-A0B8-DDF4BD93FEE0}"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2DD0105C-E812-4D23-8E57-0225867E1D7C}"/>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94A7BDC-3A28-4605-8C81-7B2F8FB675DD}"/>
              </a:ext>
            </a:extLst>
          </p:cNvPr>
          <p:cNvSpPr txBox="1"/>
          <p:nvPr/>
        </p:nvSpPr>
        <p:spPr>
          <a:xfrm>
            <a:off x="1540351" y="113983"/>
            <a:ext cx="9730399"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1. Contexte (1/2)</a:t>
            </a:r>
          </a:p>
          <a:p>
            <a:r>
              <a:rPr lang="fr-FR" sz="2000" i="1" dirty="0">
                <a:solidFill>
                  <a:schemeClr val="accent1"/>
                </a:solidFill>
                <a:latin typeface="Garamond" panose="02020404030301010803" pitchFamily="18" charset="0"/>
              </a:rPr>
              <a:t>Des défis en matière de données sur l’emploi persistent, malgré les avancées considérables de l’économie ivoirienne </a:t>
            </a:r>
          </a:p>
        </p:txBody>
      </p:sp>
      <p:sp>
        <p:nvSpPr>
          <p:cNvPr id="68" name="ZoneTexte 67">
            <a:extLst>
              <a:ext uri="{FF2B5EF4-FFF2-40B4-BE49-F238E27FC236}">
                <a16:creationId xmlns:a16="http://schemas.microsoft.com/office/drawing/2014/main" id="{57041929-A1B6-457B-BEDD-CF97AF32C315}"/>
              </a:ext>
            </a:extLst>
          </p:cNvPr>
          <p:cNvSpPr txBox="1"/>
          <p:nvPr/>
        </p:nvSpPr>
        <p:spPr>
          <a:xfrm>
            <a:off x="392950" y="1892592"/>
            <a:ext cx="11730284" cy="51058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fr-FR" sz="2000" dirty="0">
                <a:latin typeface="Garamond" panose="02020404030301010803" pitchFamily="18" charset="0"/>
              </a:rPr>
              <a:t>Sur les deux dernières décennies, la Cote d’Ivoire a connu une croissance rapide et soutenus de son économie. </a:t>
            </a:r>
          </a:p>
        </p:txBody>
      </p:sp>
      <p:sp>
        <p:nvSpPr>
          <p:cNvPr id="69" name="ZoneTexte 68">
            <a:extLst>
              <a:ext uri="{FF2B5EF4-FFF2-40B4-BE49-F238E27FC236}">
                <a16:creationId xmlns:a16="http://schemas.microsoft.com/office/drawing/2014/main" id="{960E03A0-08CF-422E-A77B-714E5C517A00}"/>
              </a:ext>
            </a:extLst>
          </p:cNvPr>
          <p:cNvSpPr txBox="1"/>
          <p:nvPr/>
        </p:nvSpPr>
        <p:spPr>
          <a:xfrm>
            <a:off x="392950" y="2970309"/>
            <a:ext cx="11730284" cy="281891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fr-FR" sz="2000" dirty="0">
                <a:latin typeface="Garamond" panose="02020404030301010803" pitchFamily="18" charset="0"/>
              </a:rPr>
              <a:t>Cependant, malgré ces avancées considérables dans plusieurs secteurs de l’économie ivoirienne, des défis subsistent, notamment en matière d’emploi.</a:t>
            </a:r>
          </a:p>
          <a:p>
            <a:pPr>
              <a:lnSpc>
                <a:spcPct val="150000"/>
              </a:lnSpc>
            </a:pPr>
            <a:endParaRPr lang="fr-FR" sz="2000" dirty="0">
              <a:latin typeface="Garamond" panose="02020404030301010803" pitchFamily="18" charset="0"/>
            </a:endParaRPr>
          </a:p>
          <a:p>
            <a:pPr marL="342900" indent="-342900">
              <a:lnSpc>
                <a:spcPct val="150000"/>
              </a:lnSpc>
              <a:buFont typeface="Arial" panose="020B0604020202020204" pitchFamily="34" charset="0"/>
              <a:buChar char="•"/>
            </a:pPr>
            <a:r>
              <a:rPr lang="fr-FR" sz="2000" dirty="0">
                <a:latin typeface="Garamond" panose="02020404030301010803" pitchFamily="18" charset="0"/>
              </a:rPr>
              <a:t>En vue d’informer efficacement  les Politiques Publiques en matière d’emploi, disposer de statistiques à fréquences réduites et alignées aux standards internationaux pour un diagnostic beaucoup plus complet du marché du travail ivoirien, figure au nombre de ces défis</a:t>
            </a:r>
          </a:p>
        </p:txBody>
      </p:sp>
      <p:sp>
        <p:nvSpPr>
          <p:cNvPr id="4" name="Espace réservé du pied de page 1">
            <a:extLst>
              <a:ext uri="{FF2B5EF4-FFF2-40B4-BE49-F238E27FC236}">
                <a16:creationId xmlns:a16="http://schemas.microsoft.com/office/drawing/2014/main" id="{8AA10840-7B1A-E3D8-69BC-2BCFE216CBFA}"/>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263987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DB22CA3F-F7E1-46B3-AA70-5DB9B52859CA}"/>
              </a:ext>
            </a:extLst>
          </p:cNvPr>
          <p:cNvSpPr>
            <a:spLocks noGrp="1"/>
          </p:cNvSpPr>
          <p:nvPr>
            <p:ph type="dt" sz="half" idx="10"/>
          </p:nvPr>
        </p:nvSpPr>
        <p:spPr/>
        <p:txBody>
          <a:bodyPr/>
          <a:lstStyle/>
          <a:p>
            <a:fld id="{F8BF47FA-A1CB-4C8C-A0B8-DDF4BD93FEE0}"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2DD0105C-E812-4D23-8E57-0225867E1D7C}"/>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94A7BDC-3A28-4605-8C81-7B2F8FB675DD}"/>
              </a:ext>
            </a:extLst>
          </p:cNvPr>
          <p:cNvSpPr txBox="1"/>
          <p:nvPr/>
        </p:nvSpPr>
        <p:spPr>
          <a:xfrm>
            <a:off x="1540352" y="113983"/>
            <a:ext cx="6973728"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1. Contexte (2/2)</a:t>
            </a:r>
          </a:p>
          <a:p>
            <a:r>
              <a:rPr lang="en-US" sz="2000" i="1" dirty="0" err="1">
                <a:solidFill>
                  <a:schemeClr val="accent1"/>
                </a:solidFill>
                <a:latin typeface="Garamond" panose="02020404030301010803" pitchFamily="18" charset="0"/>
              </a:rPr>
              <a:t>Reforme</a:t>
            </a:r>
            <a:r>
              <a:rPr lang="en-US" sz="2000" i="1" dirty="0">
                <a:solidFill>
                  <a:schemeClr val="accent1"/>
                </a:solidFill>
                <a:latin typeface="Garamond" panose="02020404030301010803" pitchFamily="18" charset="0"/>
              </a:rPr>
              <a:t> du </a:t>
            </a:r>
            <a:r>
              <a:rPr lang="en-US" sz="2000" i="1" dirty="0" err="1">
                <a:solidFill>
                  <a:schemeClr val="accent1"/>
                </a:solidFill>
                <a:latin typeface="Garamond" panose="02020404030301010803" pitchFamily="18" charset="0"/>
              </a:rPr>
              <a:t>dispositif</a:t>
            </a:r>
            <a:r>
              <a:rPr lang="en-US" sz="2000" i="1" dirty="0">
                <a:solidFill>
                  <a:schemeClr val="accent1"/>
                </a:solidFill>
                <a:latin typeface="Garamond" panose="02020404030301010803" pitchFamily="18" charset="0"/>
              </a:rPr>
              <a:t> de </a:t>
            </a:r>
            <a:r>
              <a:rPr lang="en-US" sz="2000" i="1" dirty="0" err="1">
                <a:solidFill>
                  <a:schemeClr val="accent1"/>
                </a:solidFill>
                <a:latin typeface="Garamond" panose="02020404030301010803" pitchFamily="18" charset="0"/>
              </a:rPr>
              <a:t>collecte</a:t>
            </a:r>
            <a:r>
              <a:rPr lang="en-US" sz="2000" i="1" dirty="0">
                <a:solidFill>
                  <a:schemeClr val="accent1"/>
                </a:solidFill>
                <a:latin typeface="Garamond" panose="02020404030301010803" pitchFamily="18" charset="0"/>
              </a:rPr>
              <a:t> et </a:t>
            </a:r>
            <a:r>
              <a:rPr lang="en-US" sz="2000" i="1" dirty="0" err="1">
                <a:solidFill>
                  <a:schemeClr val="accent1"/>
                </a:solidFill>
                <a:latin typeface="Garamond" panose="02020404030301010803" pitchFamily="18" charset="0"/>
              </a:rPr>
              <a:t>d’analyse</a:t>
            </a:r>
            <a:r>
              <a:rPr lang="en-US" sz="2000" i="1" dirty="0">
                <a:solidFill>
                  <a:schemeClr val="accent1"/>
                </a:solidFill>
                <a:latin typeface="Garamond" panose="02020404030301010803" pitchFamily="18" charset="0"/>
              </a:rPr>
              <a:t> des données sur l’emploi</a:t>
            </a:r>
            <a:endParaRPr lang="fr-FR" sz="2000" i="1" dirty="0">
              <a:solidFill>
                <a:schemeClr val="accent1"/>
              </a:solidFill>
              <a:latin typeface="Garamond" panose="02020404030301010803" pitchFamily="18" charset="0"/>
            </a:endParaRPr>
          </a:p>
        </p:txBody>
      </p:sp>
      <p:sp>
        <p:nvSpPr>
          <p:cNvPr id="4" name="ZoneTexte 3">
            <a:extLst>
              <a:ext uri="{FF2B5EF4-FFF2-40B4-BE49-F238E27FC236}">
                <a16:creationId xmlns:a16="http://schemas.microsoft.com/office/drawing/2014/main" id="{6D1B7CB2-223E-C209-7CE5-70520AE6D4CE}"/>
              </a:ext>
            </a:extLst>
          </p:cNvPr>
          <p:cNvSpPr txBox="1"/>
          <p:nvPr/>
        </p:nvSpPr>
        <p:spPr>
          <a:xfrm>
            <a:off x="930667" y="1928948"/>
            <a:ext cx="10103778" cy="4093428"/>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Garamond" panose="02020404030301010803" pitchFamily="18" charset="0"/>
                <a:cs typeface="Times New Roman" panose="02020603050405020304" pitchFamily="18" charset="0"/>
              </a:rPr>
              <a:t>A cet effet, l’Etat Ivoirien, en collaboration avec ses partenaires au développement, a initié une reforme profonde de son dispositif de collecte et d’analyse des données sur le marché du travail Ivoirien.  </a:t>
            </a:r>
          </a:p>
          <a:p>
            <a:endParaRPr lang="fr-FR" sz="2000" dirty="0">
              <a:latin typeface="Garamond" panose="02020404030301010803" pitchFamily="18" charset="0"/>
              <a:cs typeface="Times New Roman" panose="02020603050405020304" pitchFamily="18" charset="0"/>
            </a:endParaRPr>
          </a:p>
          <a:p>
            <a:endParaRPr lang="fr-FR" sz="2000" dirty="0">
              <a:latin typeface="Garamond" panose="02020404030301010803" pitchFamily="18" charset="0"/>
              <a:cs typeface="Times New Roman" panose="02020603050405020304" pitchFamily="18" charset="0"/>
            </a:endParaRPr>
          </a:p>
          <a:p>
            <a:pPr marL="342900" indent="-342900">
              <a:buFont typeface="Arial" panose="020B0604020202020204" pitchFamily="34" charset="0"/>
              <a:buChar char="•"/>
            </a:pPr>
            <a:r>
              <a:rPr lang="fr-FR" sz="2000" dirty="0">
                <a:latin typeface="Garamond" panose="02020404030301010803" pitchFamily="18" charset="0"/>
                <a:cs typeface="Times New Roman" panose="02020603050405020304" pitchFamily="18" charset="0"/>
              </a:rPr>
              <a:t> Cette reforme est portée par son Agence Nationale de la Statistique (</a:t>
            </a:r>
            <a:r>
              <a:rPr lang="fr-FR" sz="2000" dirty="0" err="1">
                <a:latin typeface="Garamond" panose="02020404030301010803" pitchFamily="18" charset="0"/>
                <a:cs typeface="Times New Roman" panose="02020603050405020304" pitchFamily="18" charset="0"/>
              </a:rPr>
              <a:t>ANStat</a:t>
            </a:r>
            <a:r>
              <a:rPr lang="fr-FR" sz="2000" dirty="0">
                <a:latin typeface="Garamond" panose="02020404030301010803" pitchFamily="18" charset="0"/>
                <a:cs typeface="Times New Roman" panose="02020603050405020304" pitchFamily="18" charset="0"/>
              </a:rPr>
              <a:t>), notamment à travers l’Enquête Nationale sur l'Emploi auprès des Ménages (ENEM).</a:t>
            </a:r>
          </a:p>
          <a:p>
            <a:endParaRPr lang="fr-FR" sz="2000" dirty="0">
              <a:latin typeface="Garamond" panose="02020404030301010803" pitchFamily="18" charset="0"/>
              <a:cs typeface="Times New Roman" panose="02020603050405020304" pitchFamily="18" charset="0"/>
            </a:endParaRPr>
          </a:p>
          <a:p>
            <a:pPr marL="342900" indent="-342900">
              <a:buFont typeface="Arial" panose="020B0604020202020204" pitchFamily="34" charset="0"/>
              <a:buChar char="•"/>
            </a:pPr>
            <a:endParaRPr lang="fr-FR" sz="2000" dirty="0">
              <a:latin typeface="Garamond" panose="02020404030301010803" pitchFamily="18" charset="0"/>
              <a:cs typeface="Times New Roman" panose="02020603050405020304" pitchFamily="18" charset="0"/>
            </a:endParaRPr>
          </a:p>
          <a:p>
            <a:pPr marL="342900" indent="-342900">
              <a:buFont typeface="Arial" panose="020B0604020202020204" pitchFamily="34" charset="0"/>
              <a:buChar char="•"/>
            </a:pPr>
            <a:r>
              <a:rPr lang="fr-FR" sz="2000" dirty="0">
                <a:latin typeface="Garamond" panose="02020404030301010803" pitchFamily="18" charset="0"/>
                <a:cs typeface="Times New Roman" panose="02020603050405020304" pitchFamily="18" charset="0"/>
              </a:rPr>
              <a:t>Dans le cadre de l’évaluation de la première année d’exécution de cette réforme, nous présentons ici un bilan de l’analyse provisoire des indicateurs du marché du travail ivoirien, au moyen des données de l’ENEM, des deuxième (T2), troisième (T3) et quatrième (T4) trimestres de l’année 2024.</a:t>
            </a:r>
          </a:p>
        </p:txBody>
      </p:sp>
      <p:sp>
        <p:nvSpPr>
          <p:cNvPr id="6" name="Espace réservé du pied de page 1">
            <a:extLst>
              <a:ext uri="{FF2B5EF4-FFF2-40B4-BE49-F238E27FC236}">
                <a16:creationId xmlns:a16="http://schemas.microsoft.com/office/drawing/2014/main" id="{02735551-276B-6641-BBE4-027B76B28135}"/>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1437288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DB22CA3F-F7E1-46B3-AA70-5DB9B52859CA}"/>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2DD0105C-E812-4D23-8E57-0225867E1D7C}"/>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94A7BDC-3A28-4605-8C81-7B2F8FB675DD}"/>
              </a:ext>
            </a:extLst>
          </p:cNvPr>
          <p:cNvSpPr txBox="1"/>
          <p:nvPr/>
        </p:nvSpPr>
        <p:spPr>
          <a:xfrm>
            <a:off x="1540352" y="113983"/>
            <a:ext cx="8394758"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2. Indicateurs du marché du travail </a:t>
            </a:r>
            <a:r>
              <a:rPr lang="en-US" sz="2400" b="1" dirty="0" err="1">
                <a:solidFill>
                  <a:schemeClr val="accent1"/>
                </a:solidFill>
                <a:latin typeface="Garamond" panose="02020404030301010803" pitchFamily="18" charset="0"/>
              </a:rPr>
              <a:t>Ivoirien</a:t>
            </a:r>
            <a:r>
              <a:rPr lang="en-US" sz="2400" b="1" dirty="0">
                <a:solidFill>
                  <a:schemeClr val="accent1"/>
                </a:solidFill>
                <a:latin typeface="Garamond" panose="02020404030301010803" pitchFamily="18" charset="0"/>
              </a:rPr>
              <a:t> </a:t>
            </a:r>
            <a:r>
              <a:rPr lang="en-US" sz="2400" b="1" dirty="0" err="1">
                <a:solidFill>
                  <a:schemeClr val="accent1"/>
                </a:solidFill>
                <a:latin typeface="Garamond" panose="02020404030301010803" pitchFamily="18" charset="0"/>
              </a:rPr>
              <a:t>en</a:t>
            </a:r>
            <a:r>
              <a:rPr lang="en-US" sz="2400" b="1" dirty="0">
                <a:solidFill>
                  <a:schemeClr val="accent1"/>
                </a:solidFill>
                <a:latin typeface="Garamond" panose="02020404030301010803" pitchFamily="18" charset="0"/>
              </a:rPr>
              <a:t> 2024 (1/3)</a:t>
            </a:r>
          </a:p>
          <a:p>
            <a:r>
              <a:rPr lang="en-US" sz="2000" i="1" dirty="0">
                <a:solidFill>
                  <a:schemeClr val="accent1"/>
                </a:solidFill>
                <a:latin typeface="Garamond" panose="02020404030301010803" pitchFamily="18" charset="0"/>
              </a:rPr>
              <a:t>Indicateurs de la main d’oeuvre, du chomage et de la qualité de l’emploi</a:t>
            </a:r>
            <a:endParaRPr lang="fr-FR" sz="2000" i="1" dirty="0">
              <a:solidFill>
                <a:schemeClr val="accent1"/>
              </a:solidFill>
              <a:latin typeface="Garamond" panose="02020404030301010803" pitchFamily="18" charset="0"/>
            </a:endParaRPr>
          </a:p>
        </p:txBody>
      </p:sp>
      <p:sp>
        <p:nvSpPr>
          <p:cNvPr id="15" name="ZoneTexte 14">
            <a:extLst>
              <a:ext uri="{FF2B5EF4-FFF2-40B4-BE49-F238E27FC236}">
                <a16:creationId xmlns:a16="http://schemas.microsoft.com/office/drawing/2014/main" id="{F3386CAE-75FE-4E6E-90A7-139441A7273E}"/>
              </a:ext>
            </a:extLst>
          </p:cNvPr>
          <p:cNvSpPr txBox="1"/>
          <p:nvPr/>
        </p:nvSpPr>
        <p:spPr>
          <a:xfrm>
            <a:off x="518159" y="1640005"/>
            <a:ext cx="10762866" cy="972254"/>
          </a:xfrm>
          <a:prstGeom prst="rect">
            <a:avLst/>
          </a:prstGeom>
          <a:noFill/>
        </p:spPr>
        <p:txBody>
          <a:bodyPr wrap="square">
            <a:spAutoFit/>
          </a:bodyPr>
          <a:lstStyle/>
          <a:p>
            <a:pPr>
              <a:lnSpc>
                <a:spcPct val="150000"/>
              </a:lnSpc>
            </a:pPr>
            <a:r>
              <a:rPr lang="fr-FR" sz="2000" dirty="0">
                <a:latin typeface="Garamond" panose="02020404030301010803" pitchFamily="18" charset="0"/>
              </a:rPr>
              <a:t>Dans le cadre de l’analyse provisoire des indicateurs du marché du travail ivoirien au moyen de l’ENEM, les indicateurs suivants ont été analysé :</a:t>
            </a:r>
          </a:p>
        </p:txBody>
      </p:sp>
      <p:sp>
        <p:nvSpPr>
          <p:cNvPr id="18" name="Oval 27">
            <a:extLst>
              <a:ext uri="{FF2B5EF4-FFF2-40B4-BE49-F238E27FC236}">
                <a16:creationId xmlns:a16="http://schemas.microsoft.com/office/drawing/2014/main" id="{F25C8514-1FB4-4975-B1B1-2E5ECD31FD09}"/>
              </a:ext>
            </a:extLst>
          </p:cNvPr>
          <p:cNvSpPr>
            <a:spLocks noChangeArrowheads="1"/>
          </p:cNvSpPr>
          <p:nvPr/>
        </p:nvSpPr>
        <p:spPr bwMode="gray">
          <a:xfrm>
            <a:off x="1571944" y="2866687"/>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a:solidFill>
                  <a:schemeClr val="bg1"/>
                </a:solidFill>
                <a:cs typeface="Arial" pitchFamily="34" charset="0"/>
              </a:rPr>
              <a:t>1</a:t>
            </a:r>
          </a:p>
        </p:txBody>
      </p:sp>
      <p:sp>
        <p:nvSpPr>
          <p:cNvPr id="20" name="ZoneTexte 19">
            <a:extLst>
              <a:ext uri="{FF2B5EF4-FFF2-40B4-BE49-F238E27FC236}">
                <a16:creationId xmlns:a16="http://schemas.microsoft.com/office/drawing/2014/main" id="{ADD28156-B49F-4386-8AD1-B2FEACD2FF1F}"/>
              </a:ext>
            </a:extLst>
          </p:cNvPr>
          <p:cNvSpPr txBox="1"/>
          <p:nvPr/>
        </p:nvSpPr>
        <p:spPr>
          <a:xfrm>
            <a:off x="1540351" y="2715135"/>
            <a:ext cx="10072528" cy="510589"/>
          </a:xfrm>
          <a:prstGeom prst="rect">
            <a:avLst/>
          </a:prstGeom>
          <a:noFill/>
        </p:spPr>
        <p:txBody>
          <a:bodyPr wrap="square">
            <a:spAutoFit/>
          </a:bodyPr>
          <a:lstStyle/>
          <a:p>
            <a:pPr lvl="1">
              <a:lnSpc>
                <a:spcPct val="150000"/>
              </a:lnSpc>
            </a:pPr>
            <a:r>
              <a:rPr lang="fr-FR" sz="2000" dirty="0">
                <a:latin typeface="Garamond" panose="02020404030301010803" pitchFamily="18" charset="0"/>
              </a:rPr>
              <a:t>Proportion de la Population en Age de Travailler (PAT) : Personnes </a:t>
            </a:r>
            <a:r>
              <a:rPr lang="fr-FR" sz="2000" dirty="0" err="1">
                <a:latin typeface="Garamond" panose="02020404030301010803" pitchFamily="18" charset="0"/>
              </a:rPr>
              <a:t>agées</a:t>
            </a:r>
            <a:r>
              <a:rPr lang="fr-FR" sz="2000" dirty="0">
                <a:latin typeface="Garamond" panose="02020404030301010803" pitchFamily="18" charset="0"/>
              </a:rPr>
              <a:t> de 16ans et plus </a:t>
            </a:r>
          </a:p>
        </p:txBody>
      </p:sp>
      <p:sp>
        <p:nvSpPr>
          <p:cNvPr id="21" name="Oval 27">
            <a:extLst>
              <a:ext uri="{FF2B5EF4-FFF2-40B4-BE49-F238E27FC236}">
                <a16:creationId xmlns:a16="http://schemas.microsoft.com/office/drawing/2014/main" id="{329A874E-E677-4FF2-9462-15E847B2FEF4}"/>
              </a:ext>
            </a:extLst>
          </p:cNvPr>
          <p:cNvSpPr>
            <a:spLocks noChangeArrowheads="1"/>
          </p:cNvSpPr>
          <p:nvPr/>
        </p:nvSpPr>
        <p:spPr bwMode="gray">
          <a:xfrm>
            <a:off x="1543846" y="3632640"/>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2</a:t>
            </a:r>
          </a:p>
        </p:txBody>
      </p:sp>
      <p:sp>
        <p:nvSpPr>
          <p:cNvPr id="22" name="Oval 27">
            <a:extLst>
              <a:ext uri="{FF2B5EF4-FFF2-40B4-BE49-F238E27FC236}">
                <a16:creationId xmlns:a16="http://schemas.microsoft.com/office/drawing/2014/main" id="{B8524ED3-DF16-469C-A87A-05BC7156B897}"/>
              </a:ext>
            </a:extLst>
          </p:cNvPr>
          <p:cNvSpPr>
            <a:spLocks noChangeArrowheads="1"/>
          </p:cNvSpPr>
          <p:nvPr/>
        </p:nvSpPr>
        <p:spPr bwMode="gray">
          <a:xfrm>
            <a:off x="1543846" y="4374528"/>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a:solidFill>
                  <a:schemeClr val="bg1"/>
                </a:solidFill>
                <a:cs typeface="Arial" pitchFamily="34" charset="0"/>
              </a:rPr>
              <a:t>3</a:t>
            </a:r>
          </a:p>
        </p:txBody>
      </p:sp>
      <p:sp>
        <p:nvSpPr>
          <p:cNvPr id="23" name="Oval 27">
            <a:extLst>
              <a:ext uri="{FF2B5EF4-FFF2-40B4-BE49-F238E27FC236}">
                <a16:creationId xmlns:a16="http://schemas.microsoft.com/office/drawing/2014/main" id="{4104D07E-31A9-4780-9921-A5A1E80394DA}"/>
              </a:ext>
            </a:extLst>
          </p:cNvPr>
          <p:cNvSpPr>
            <a:spLocks noChangeArrowheads="1"/>
          </p:cNvSpPr>
          <p:nvPr/>
        </p:nvSpPr>
        <p:spPr bwMode="gray">
          <a:xfrm>
            <a:off x="1535301" y="5464027"/>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4</a:t>
            </a:r>
          </a:p>
        </p:txBody>
      </p:sp>
      <p:sp>
        <p:nvSpPr>
          <p:cNvPr id="25" name="ZoneTexte 24">
            <a:extLst>
              <a:ext uri="{FF2B5EF4-FFF2-40B4-BE49-F238E27FC236}">
                <a16:creationId xmlns:a16="http://schemas.microsoft.com/office/drawing/2014/main" id="{0921AB7A-7FAC-412B-AA23-555DE2397D81}"/>
              </a:ext>
            </a:extLst>
          </p:cNvPr>
          <p:cNvSpPr txBox="1"/>
          <p:nvPr/>
        </p:nvSpPr>
        <p:spPr>
          <a:xfrm>
            <a:off x="1562526" y="4210361"/>
            <a:ext cx="8970111" cy="972254"/>
          </a:xfrm>
          <a:prstGeom prst="rect">
            <a:avLst/>
          </a:prstGeom>
          <a:noFill/>
        </p:spPr>
        <p:txBody>
          <a:bodyPr wrap="square">
            <a:spAutoFit/>
          </a:bodyPr>
          <a:lstStyle/>
          <a:p>
            <a:pPr lvl="1">
              <a:lnSpc>
                <a:spcPct val="150000"/>
              </a:lnSpc>
            </a:pPr>
            <a:r>
              <a:rPr lang="fr-FR" sz="2000" dirty="0">
                <a:latin typeface="Garamond" panose="02020404030301010803" pitchFamily="18" charset="0"/>
              </a:rPr>
              <a:t>Sous-Utilisation de la main d’œuvre : Autres indicateurs de la main d’œuvre (SU2,SU3,SU4)</a:t>
            </a:r>
          </a:p>
        </p:txBody>
      </p:sp>
      <p:sp>
        <p:nvSpPr>
          <p:cNvPr id="27" name="ZoneTexte 26">
            <a:extLst>
              <a:ext uri="{FF2B5EF4-FFF2-40B4-BE49-F238E27FC236}">
                <a16:creationId xmlns:a16="http://schemas.microsoft.com/office/drawing/2014/main" id="{1550CDD7-0892-423F-AF8F-29796CAF8A51}"/>
              </a:ext>
            </a:extLst>
          </p:cNvPr>
          <p:cNvSpPr txBox="1"/>
          <p:nvPr/>
        </p:nvSpPr>
        <p:spPr>
          <a:xfrm>
            <a:off x="1974136" y="3564698"/>
            <a:ext cx="7139042" cy="400110"/>
          </a:xfrm>
          <a:prstGeom prst="rect">
            <a:avLst/>
          </a:prstGeom>
          <a:noFill/>
        </p:spPr>
        <p:txBody>
          <a:bodyPr wrap="square">
            <a:spAutoFit/>
          </a:bodyPr>
          <a:lstStyle/>
          <a:p>
            <a:r>
              <a:rPr lang="fr-FR" sz="2000" dirty="0">
                <a:latin typeface="Garamond" panose="02020404030301010803" pitchFamily="18" charset="0"/>
              </a:rPr>
              <a:t>Statut de la Main d’Œuvre : Personnes en emploi ou au chomage </a:t>
            </a:r>
            <a:endParaRPr lang="fr-FR" sz="2000" dirty="0"/>
          </a:p>
        </p:txBody>
      </p:sp>
      <p:sp>
        <p:nvSpPr>
          <p:cNvPr id="29" name="ZoneTexte 28">
            <a:extLst>
              <a:ext uri="{FF2B5EF4-FFF2-40B4-BE49-F238E27FC236}">
                <a16:creationId xmlns:a16="http://schemas.microsoft.com/office/drawing/2014/main" id="{89978632-A09E-4049-993F-13CA75E39FC0}"/>
              </a:ext>
            </a:extLst>
          </p:cNvPr>
          <p:cNvSpPr txBox="1"/>
          <p:nvPr/>
        </p:nvSpPr>
        <p:spPr>
          <a:xfrm>
            <a:off x="1540351" y="5311801"/>
            <a:ext cx="7735728" cy="510589"/>
          </a:xfrm>
          <a:prstGeom prst="rect">
            <a:avLst/>
          </a:prstGeom>
          <a:noFill/>
        </p:spPr>
        <p:txBody>
          <a:bodyPr wrap="square">
            <a:spAutoFit/>
          </a:bodyPr>
          <a:lstStyle/>
          <a:p>
            <a:pPr lvl="1">
              <a:lnSpc>
                <a:spcPct val="150000"/>
              </a:lnSpc>
            </a:pPr>
            <a:r>
              <a:rPr lang="fr-FR" sz="2000" dirty="0">
                <a:latin typeface="Garamond" panose="02020404030301010803" pitchFamily="18" charset="0"/>
              </a:rPr>
              <a:t>Emploi vulnérable</a:t>
            </a:r>
          </a:p>
        </p:txBody>
      </p:sp>
      <p:sp>
        <p:nvSpPr>
          <p:cNvPr id="6" name="Espace réservé du pied de page 1">
            <a:extLst>
              <a:ext uri="{FF2B5EF4-FFF2-40B4-BE49-F238E27FC236}">
                <a16:creationId xmlns:a16="http://schemas.microsoft.com/office/drawing/2014/main" id="{75B30087-D680-8E4F-C921-5CF83331E74C}"/>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190437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FFF57-8CE2-B073-858F-F19804CDBF0A}"/>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98CFE835-265A-7674-4648-5FDDFEA5D31A}"/>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55FDD240-4D17-D949-A746-C20AE0BDC043}"/>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4D7603C-FE2D-5105-B79B-C1807A762A2C}"/>
              </a:ext>
            </a:extLst>
          </p:cNvPr>
          <p:cNvSpPr txBox="1"/>
          <p:nvPr/>
        </p:nvSpPr>
        <p:spPr>
          <a:xfrm>
            <a:off x="1540351" y="113983"/>
            <a:ext cx="8970111"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2. Indicateurs du marché du travail </a:t>
            </a:r>
            <a:r>
              <a:rPr lang="en-US" sz="2400" b="1" dirty="0" err="1">
                <a:solidFill>
                  <a:schemeClr val="accent1"/>
                </a:solidFill>
                <a:latin typeface="Garamond" panose="02020404030301010803" pitchFamily="18" charset="0"/>
              </a:rPr>
              <a:t>Ivoirien</a:t>
            </a:r>
            <a:r>
              <a:rPr lang="en-US" sz="2400" b="1" dirty="0">
                <a:solidFill>
                  <a:schemeClr val="accent1"/>
                </a:solidFill>
                <a:latin typeface="Garamond" panose="02020404030301010803" pitchFamily="18" charset="0"/>
              </a:rPr>
              <a:t> </a:t>
            </a:r>
            <a:r>
              <a:rPr lang="en-US" sz="2400" b="1" dirty="0" err="1">
                <a:solidFill>
                  <a:schemeClr val="accent1"/>
                </a:solidFill>
                <a:latin typeface="Garamond" panose="02020404030301010803" pitchFamily="18" charset="0"/>
              </a:rPr>
              <a:t>en</a:t>
            </a:r>
            <a:r>
              <a:rPr lang="en-US" sz="2400" b="1" dirty="0">
                <a:solidFill>
                  <a:schemeClr val="accent1"/>
                </a:solidFill>
                <a:latin typeface="Garamond" panose="02020404030301010803" pitchFamily="18" charset="0"/>
              </a:rPr>
              <a:t> 2024 (2/3)</a:t>
            </a:r>
          </a:p>
          <a:p>
            <a:r>
              <a:rPr lang="en-US" sz="2000" i="1" dirty="0">
                <a:solidFill>
                  <a:schemeClr val="accent1"/>
                </a:solidFill>
                <a:latin typeface="Garamond" panose="02020404030301010803" pitchFamily="18" charset="0"/>
              </a:rPr>
              <a:t>Indicateurs de la main d’oeuvre, du chomage et de la qualité de l’emploi</a:t>
            </a:r>
            <a:endParaRPr lang="fr-FR" sz="2000" i="1" dirty="0">
              <a:solidFill>
                <a:schemeClr val="accent1"/>
              </a:solidFill>
              <a:latin typeface="Garamond" panose="02020404030301010803" pitchFamily="18" charset="0"/>
            </a:endParaRPr>
          </a:p>
        </p:txBody>
      </p:sp>
      <p:sp>
        <p:nvSpPr>
          <p:cNvPr id="18" name="Oval 27">
            <a:extLst>
              <a:ext uri="{FF2B5EF4-FFF2-40B4-BE49-F238E27FC236}">
                <a16:creationId xmlns:a16="http://schemas.microsoft.com/office/drawing/2014/main" id="{B106A42C-0CB1-6D79-68F3-42DBA2C313AA}"/>
              </a:ext>
            </a:extLst>
          </p:cNvPr>
          <p:cNvSpPr>
            <a:spLocks noChangeArrowheads="1"/>
          </p:cNvSpPr>
          <p:nvPr/>
        </p:nvSpPr>
        <p:spPr bwMode="gray">
          <a:xfrm>
            <a:off x="1540352" y="2282314"/>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5</a:t>
            </a:r>
          </a:p>
        </p:txBody>
      </p:sp>
      <p:sp>
        <p:nvSpPr>
          <p:cNvPr id="20" name="ZoneTexte 19">
            <a:extLst>
              <a:ext uri="{FF2B5EF4-FFF2-40B4-BE49-F238E27FC236}">
                <a16:creationId xmlns:a16="http://schemas.microsoft.com/office/drawing/2014/main" id="{ACEB9609-206C-17C3-0435-3ECB15BCE203}"/>
              </a:ext>
            </a:extLst>
          </p:cNvPr>
          <p:cNvSpPr txBox="1"/>
          <p:nvPr/>
        </p:nvSpPr>
        <p:spPr>
          <a:xfrm>
            <a:off x="1458145" y="2088832"/>
            <a:ext cx="10072528" cy="510589"/>
          </a:xfrm>
          <a:prstGeom prst="rect">
            <a:avLst/>
          </a:prstGeom>
          <a:noFill/>
        </p:spPr>
        <p:txBody>
          <a:bodyPr wrap="square">
            <a:spAutoFit/>
          </a:bodyPr>
          <a:lstStyle/>
          <a:p>
            <a:pPr lvl="1">
              <a:lnSpc>
                <a:spcPct val="150000"/>
              </a:lnSpc>
            </a:pPr>
            <a:r>
              <a:rPr lang="fr-FR" sz="2000" dirty="0">
                <a:latin typeface="Garamond" panose="02020404030301010803" pitchFamily="18" charset="0"/>
              </a:rPr>
              <a:t>Formalité de l’emploi et du Secteur </a:t>
            </a:r>
          </a:p>
        </p:txBody>
      </p:sp>
      <p:sp>
        <p:nvSpPr>
          <p:cNvPr id="21" name="Oval 27">
            <a:extLst>
              <a:ext uri="{FF2B5EF4-FFF2-40B4-BE49-F238E27FC236}">
                <a16:creationId xmlns:a16="http://schemas.microsoft.com/office/drawing/2014/main" id="{DBAA50C7-EDF5-AE73-C6DF-845690123229}"/>
              </a:ext>
            </a:extLst>
          </p:cNvPr>
          <p:cNvSpPr>
            <a:spLocks noChangeArrowheads="1"/>
          </p:cNvSpPr>
          <p:nvPr/>
        </p:nvSpPr>
        <p:spPr bwMode="gray">
          <a:xfrm>
            <a:off x="1540352" y="3046645"/>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6</a:t>
            </a:r>
          </a:p>
        </p:txBody>
      </p:sp>
      <p:sp>
        <p:nvSpPr>
          <p:cNvPr id="22" name="Oval 27">
            <a:extLst>
              <a:ext uri="{FF2B5EF4-FFF2-40B4-BE49-F238E27FC236}">
                <a16:creationId xmlns:a16="http://schemas.microsoft.com/office/drawing/2014/main" id="{428D8801-E34A-8D42-E075-C34031A6CD00}"/>
              </a:ext>
            </a:extLst>
          </p:cNvPr>
          <p:cNvSpPr>
            <a:spLocks noChangeArrowheads="1"/>
          </p:cNvSpPr>
          <p:nvPr/>
        </p:nvSpPr>
        <p:spPr bwMode="gray">
          <a:xfrm>
            <a:off x="1560887" y="3788758"/>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7</a:t>
            </a:r>
          </a:p>
        </p:txBody>
      </p:sp>
      <p:sp>
        <p:nvSpPr>
          <p:cNvPr id="23" name="Oval 27">
            <a:extLst>
              <a:ext uri="{FF2B5EF4-FFF2-40B4-BE49-F238E27FC236}">
                <a16:creationId xmlns:a16="http://schemas.microsoft.com/office/drawing/2014/main" id="{A2C0578D-C751-525F-F2AD-3CB7713B837E}"/>
              </a:ext>
            </a:extLst>
          </p:cNvPr>
          <p:cNvSpPr>
            <a:spLocks noChangeArrowheads="1"/>
          </p:cNvSpPr>
          <p:nvPr/>
        </p:nvSpPr>
        <p:spPr bwMode="gray">
          <a:xfrm>
            <a:off x="1560887" y="4555308"/>
            <a:ext cx="241300" cy="234950"/>
          </a:xfrm>
          <a:prstGeom prst="ellipse">
            <a:avLst/>
          </a:prstGeom>
          <a:solidFill>
            <a:schemeClr val="tx2"/>
          </a:solidFill>
          <a:ln w="9525">
            <a:solidFill>
              <a:schemeClr val="tx2"/>
            </a:solidFill>
            <a:round/>
            <a:headEnd/>
            <a:tailEnd/>
          </a:ln>
          <a:effectLst/>
        </p:spPr>
        <p:txBody>
          <a:bodyPr wrap="none" anchor="ctr"/>
          <a:lstStyle/>
          <a:p>
            <a:pPr algn="ctr" eaLnBrk="1" hangingPunct="1"/>
            <a:r>
              <a:rPr lang="en-US" sz="1200" b="1" dirty="0">
                <a:solidFill>
                  <a:schemeClr val="bg1"/>
                </a:solidFill>
                <a:cs typeface="Arial" pitchFamily="34" charset="0"/>
              </a:rPr>
              <a:t>8</a:t>
            </a:r>
          </a:p>
        </p:txBody>
      </p:sp>
      <p:sp>
        <p:nvSpPr>
          <p:cNvPr id="25" name="ZoneTexte 24">
            <a:extLst>
              <a:ext uri="{FF2B5EF4-FFF2-40B4-BE49-F238E27FC236}">
                <a16:creationId xmlns:a16="http://schemas.microsoft.com/office/drawing/2014/main" id="{A0552D1C-E46A-3F4A-3E19-2E0E49DDF9B9}"/>
              </a:ext>
            </a:extLst>
          </p:cNvPr>
          <p:cNvSpPr txBox="1"/>
          <p:nvPr/>
        </p:nvSpPr>
        <p:spPr>
          <a:xfrm>
            <a:off x="1540352" y="3618246"/>
            <a:ext cx="8970111" cy="510589"/>
          </a:xfrm>
          <a:prstGeom prst="rect">
            <a:avLst/>
          </a:prstGeom>
          <a:noFill/>
        </p:spPr>
        <p:txBody>
          <a:bodyPr wrap="square">
            <a:spAutoFit/>
          </a:bodyPr>
          <a:lstStyle/>
          <a:p>
            <a:pPr lvl="1">
              <a:lnSpc>
                <a:spcPct val="150000"/>
              </a:lnSpc>
            </a:pPr>
            <a:r>
              <a:rPr lang="fr-FR" sz="2000" dirty="0">
                <a:latin typeface="Garamond" panose="02020404030301010803" pitchFamily="18" charset="0"/>
              </a:rPr>
              <a:t>Pluriactivité</a:t>
            </a:r>
          </a:p>
        </p:txBody>
      </p:sp>
      <p:sp>
        <p:nvSpPr>
          <p:cNvPr id="27" name="ZoneTexte 26">
            <a:extLst>
              <a:ext uri="{FF2B5EF4-FFF2-40B4-BE49-F238E27FC236}">
                <a16:creationId xmlns:a16="http://schemas.microsoft.com/office/drawing/2014/main" id="{480F1B70-F903-8165-8A28-55E2E56A2EED}"/>
              </a:ext>
            </a:extLst>
          </p:cNvPr>
          <p:cNvSpPr txBox="1"/>
          <p:nvPr/>
        </p:nvSpPr>
        <p:spPr>
          <a:xfrm>
            <a:off x="1959345" y="2989560"/>
            <a:ext cx="7139042" cy="400110"/>
          </a:xfrm>
          <a:prstGeom prst="rect">
            <a:avLst/>
          </a:prstGeom>
          <a:noFill/>
        </p:spPr>
        <p:txBody>
          <a:bodyPr wrap="square">
            <a:spAutoFit/>
          </a:bodyPr>
          <a:lstStyle/>
          <a:p>
            <a:r>
              <a:rPr lang="fr-FR" sz="2000" dirty="0">
                <a:latin typeface="Garamond" panose="02020404030301010803" pitchFamily="18" charset="0"/>
              </a:rPr>
              <a:t>Jeunes Ni-Ni </a:t>
            </a:r>
            <a:endParaRPr lang="fr-FR" sz="2000" dirty="0"/>
          </a:p>
        </p:txBody>
      </p:sp>
      <p:sp>
        <p:nvSpPr>
          <p:cNvPr id="29" name="ZoneTexte 28">
            <a:extLst>
              <a:ext uri="{FF2B5EF4-FFF2-40B4-BE49-F238E27FC236}">
                <a16:creationId xmlns:a16="http://schemas.microsoft.com/office/drawing/2014/main" id="{6F3C7033-14C1-C258-F269-633B6DE18163}"/>
              </a:ext>
            </a:extLst>
          </p:cNvPr>
          <p:cNvSpPr txBox="1"/>
          <p:nvPr/>
        </p:nvSpPr>
        <p:spPr>
          <a:xfrm>
            <a:off x="1540352" y="4357411"/>
            <a:ext cx="7735728" cy="510589"/>
          </a:xfrm>
          <a:prstGeom prst="rect">
            <a:avLst/>
          </a:prstGeom>
          <a:noFill/>
        </p:spPr>
        <p:txBody>
          <a:bodyPr wrap="square">
            <a:spAutoFit/>
          </a:bodyPr>
          <a:lstStyle/>
          <a:p>
            <a:pPr lvl="1">
              <a:lnSpc>
                <a:spcPct val="150000"/>
              </a:lnSpc>
            </a:pPr>
            <a:r>
              <a:rPr lang="fr-FR" sz="2000" dirty="0">
                <a:latin typeface="Garamond" panose="02020404030301010803" pitchFamily="18" charset="0"/>
              </a:rPr>
              <a:t>Situation dans l’emploi </a:t>
            </a:r>
          </a:p>
        </p:txBody>
      </p:sp>
      <p:sp>
        <p:nvSpPr>
          <p:cNvPr id="4" name="Espace réservé du pied de page 1">
            <a:extLst>
              <a:ext uri="{FF2B5EF4-FFF2-40B4-BE49-F238E27FC236}">
                <a16:creationId xmlns:a16="http://schemas.microsoft.com/office/drawing/2014/main" id="{3802F48E-EB2C-553C-C16C-E7E5C437AA96}"/>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3157991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E87F0-E4B0-DD12-1784-53285411D057}"/>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140D10DF-F1E5-9473-37A0-C6165EC05050}"/>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B3E4ADC0-FEF6-C744-5938-B1B95B917EB1}"/>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182AC20F-2C78-764B-04E7-1395857B8285}"/>
              </a:ext>
            </a:extLst>
          </p:cNvPr>
          <p:cNvSpPr txBox="1"/>
          <p:nvPr/>
        </p:nvSpPr>
        <p:spPr>
          <a:xfrm>
            <a:off x="1540351" y="113983"/>
            <a:ext cx="9113949"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2. Indicateurs du marché du travail </a:t>
            </a:r>
            <a:r>
              <a:rPr lang="en-US" sz="2400" b="1" dirty="0" err="1">
                <a:solidFill>
                  <a:schemeClr val="accent1"/>
                </a:solidFill>
                <a:latin typeface="Garamond" panose="02020404030301010803" pitchFamily="18" charset="0"/>
              </a:rPr>
              <a:t>Ivoirien</a:t>
            </a:r>
            <a:r>
              <a:rPr lang="en-US" sz="2400" b="1" dirty="0">
                <a:solidFill>
                  <a:schemeClr val="accent1"/>
                </a:solidFill>
                <a:latin typeface="Garamond" panose="02020404030301010803" pitchFamily="18" charset="0"/>
              </a:rPr>
              <a:t> </a:t>
            </a:r>
            <a:r>
              <a:rPr lang="en-US" sz="2400" b="1" dirty="0" err="1">
                <a:solidFill>
                  <a:schemeClr val="accent1"/>
                </a:solidFill>
                <a:latin typeface="Garamond" panose="02020404030301010803" pitchFamily="18" charset="0"/>
              </a:rPr>
              <a:t>en</a:t>
            </a:r>
            <a:r>
              <a:rPr lang="en-US" sz="2400" b="1" dirty="0">
                <a:solidFill>
                  <a:schemeClr val="accent1"/>
                </a:solidFill>
                <a:latin typeface="Garamond" panose="02020404030301010803" pitchFamily="18" charset="0"/>
              </a:rPr>
              <a:t> 2024 (3/3)</a:t>
            </a:r>
          </a:p>
          <a:p>
            <a:r>
              <a:rPr lang="en-US" sz="2000" i="1" dirty="0">
                <a:solidFill>
                  <a:schemeClr val="accent1"/>
                </a:solidFill>
                <a:latin typeface="Garamond" panose="02020404030301010803" pitchFamily="18" charset="0"/>
              </a:rPr>
              <a:t>Illustration de la presentation des Indicateurs, par </a:t>
            </a:r>
            <a:r>
              <a:rPr lang="en-US" sz="2000" i="1" dirty="0" err="1">
                <a:solidFill>
                  <a:schemeClr val="accent1"/>
                </a:solidFill>
                <a:latin typeface="Garamond" panose="02020404030301010803" pitchFamily="18" charset="0"/>
              </a:rPr>
              <a:t>sexe</a:t>
            </a:r>
            <a:r>
              <a:rPr lang="en-US" sz="2000" i="1" dirty="0">
                <a:solidFill>
                  <a:schemeClr val="accent1"/>
                </a:solidFill>
                <a:latin typeface="Garamond" panose="02020404030301010803" pitchFamily="18" charset="0"/>
              </a:rPr>
              <a:t>, age, </a:t>
            </a:r>
            <a:r>
              <a:rPr lang="en-US" sz="2000" i="1" dirty="0" err="1">
                <a:solidFill>
                  <a:schemeClr val="accent1"/>
                </a:solidFill>
                <a:latin typeface="Garamond" panose="02020404030301010803" pitchFamily="18" charset="0"/>
              </a:rPr>
              <a:t>niveau</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d’instruction</a:t>
            </a:r>
            <a:r>
              <a:rPr lang="en-US" sz="2000" i="1" dirty="0">
                <a:solidFill>
                  <a:schemeClr val="accent1"/>
                </a:solidFill>
                <a:latin typeface="Garamond" panose="02020404030301010803" pitchFamily="18" charset="0"/>
              </a:rPr>
              <a:t> &amp; milieu de residence </a:t>
            </a:r>
            <a:endParaRPr lang="fr-FR" sz="2000" i="1" dirty="0">
              <a:solidFill>
                <a:schemeClr val="accent1"/>
              </a:solidFill>
              <a:latin typeface="Garamond" panose="02020404030301010803" pitchFamily="18" charset="0"/>
            </a:endParaRPr>
          </a:p>
        </p:txBody>
      </p:sp>
      <p:sp>
        <p:nvSpPr>
          <p:cNvPr id="4" name="ZoneTexte 3">
            <a:extLst>
              <a:ext uri="{FF2B5EF4-FFF2-40B4-BE49-F238E27FC236}">
                <a16:creationId xmlns:a16="http://schemas.microsoft.com/office/drawing/2014/main" id="{FF8A64D8-5C8C-A154-673B-CC8DB3D90DD6}"/>
              </a:ext>
            </a:extLst>
          </p:cNvPr>
          <p:cNvSpPr txBox="1"/>
          <p:nvPr/>
        </p:nvSpPr>
        <p:spPr>
          <a:xfrm>
            <a:off x="477062" y="1093293"/>
            <a:ext cx="11163558" cy="646331"/>
          </a:xfrm>
          <a:prstGeom prst="rect">
            <a:avLst/>
          </a:prstGeom>
          <a:noFill/>
        </p:spPr>
        <p:txBody>
          <a:bodyPr wrap="square">
            <a:spAutoFit/>
          </a:bodyPr>
          <a:lstStyle/>
          <a:p>
            <a:r>
              <a:rPr lang="fr-FR" sz="1600" dirty="0">
                <a:latin typeface="Garamond" panose="02020404030301010803" pitchFamily="18" charset="0"/>
              </a:rPr>
              <a:t>Le tableau suivant synthétise à titre illustratif, l’analyse du taux de chômage suivant les niveaux de désagrégation, les autres indicateurs étant calculés et présentés de la même manière.</a:t>
            </a:r>
            <a:r>
              <a:rPr lang="fr-FR" sz="2000" dirty="0">
                <a:latin typeface="Garamond" panose="02020404030301010803" pitchFamily="18" charset="0"/>
              </a:rPr>
              <a:t> </a:t>
            </a:r>
          </a:p>
        </p:txBody>
      </p:sp>
      <p:graphicFrame>
        <p:nvGraphicFramePr>
          <p:cNvPr id="7" name="Tableau 6">
            <a:extLst>
              <a:ext uri="{FF2B5EF4-FFF2-40B4-BE49-F238E27FC236}">
                <a16:creationId xmlns:a16="http://schemas.microsoft.com/office/drawing/2014/main" id="{C89DF8DE-C97B-3D95-A2CC-3DAB21705149}"/>
              </a:ext>
            </a:extLst>
          </p:cNvPr>
          <p:cNvGraphicFramePr>
            <a:graphicFrameLocks noGrp="1"/>
          </p:cNvGraphicFramePr>
          <p:nvPr>
            <p:extLst>
              <p:ext uri="{D42A27DB-BD31-4B8C-83A1-F6EECF244321}">
                <p14:modId xmlns:p14="http://schemas.microsoft.com/office/powerpoint/2010/main" val="2026866740"/>
              </p:ext>
            </p:extLst>
          </p:nvPr>
        </p:nvGraphicFramePr>
        <p:xfrm>
          <a:off x="729465" y="1867716"/>
          <a:ext cx="10181686" cy="4419858"/>
        </p:xfrm>
        <a:graphic>
          <a:graphicData uri="http://schemas.openxmlformats.org/drawingml/2006/table">
            <a:tbl>
              <a:tblPr firstRow="1" firstCol="1" bandRow="1">
                <a:tableStyleId>{5C22544A-7EE6-4342-B048-85BDC9FD1C3A}</a:tableStyleId>
              </a:tblPr>
              <a:tblGrid>
                <a:gridCol w="1830061">
                  <a:extLst>
                    <a:ext uri="{9D8B030D-6E8A-4147-A177-3AD203B41FA5}">
                      <a16:colId xmlns:a16="http://schemas.microsoft.com/office/drawing/2014/main" val="58499084"/>
                    </a:ext>
                  </a:extLst>
                </a:gridCol>
                <a:gridCol w="118640">
                  <a:extLst>
                    <a:ext uri="{9D8B030D-6E8A-4147-A177-3AD203B41FA5}">
                      <a16:colId xmlns:a16="http://schemas.microsoft.com/office/drawing/2014/main" val="3619269472"/>
                    </a:ext>
                  </a:extLst>
                </a:gridCol>
                <a:gridCol w="1073147">
                  <a:extLst>
                    <a:ext uri="{9D8B030D-6E8A-4147-A177-3AD203B41FA5}">
                      <a16:colId xmlns:a16="http://schemas.microsoft.com/office/drawing/2014/main" val="810896317"/>
                    </a:ext>
                  </a:extLst>
                </a:gridCol>
                <a:gridCol w="1002157">
                  <a:extLst>
                    <a:ext uri="{9D8B030D-6E8A-4147-A177-3AD203B41FA5}">
                      <a16:colId xmlns:a16="http://schemas.microsoft.com/office/drawing/2014/main" val="158389309"/>
                    </a:ext>
                  </a:extLst>
                </a:gridCol>
                <a:gridCol w="1087896">
                  <a:extLst>
                    <a:ext uri="{9D8B030D-6E8A-4147-A177-3AD203B41FA5}">
                      <a16:colId xmlns:a16="http://schemas.microsoft.com/office/drawing/2014/main" val="907934795"/>
                    </a:ext>
                  </a:extLst>
                </a:gridCol>
                <a:gridCol w="1672410">
                  <a:extLst>
                    <a:ext uri="{9D8B030D-6E8A-4147-A177-3AD203B41FA5}">
                      <a16:colId xmlns:a16="http://schemas.microsoft.com/office/drawing/2014/main" val="3013688954"/>
                    </a:ext>
                  </a:extLst>
                </a:gridCol>
                <a:gridCol w="1698226">
                  <a:extLst>
                    <a:ext uri="{9D8B030D-6E8A-4147-A177-3AD203B41FA5}">
                      <a16:colId xmlns:a16="http://schemas.microsoft.com/office/drawing/2014/main" val="317672610"/>
                    </a:ext>
                  </a:extLst>
                </a:gridCol>
                <a:gridCol w="1699149">
                  <a:extLst>
                    <a:ext uri="{9D8B030D-6E8A-4147-A177-3AD203B41FA5}">
                      <a16:colId xmlns:a16="http://schemas.microsoft.com/office/drawing/2014/main" val="1812781947"/>
                    </a:ext>
                  </a:extLst>
                </a:gridCol>
              </a:tblGrid>
              <a:tr h="347458">
                <a:tc>
                  <a:txBody>
                    <a:bodyPr/>
                    <a:lstStyle/>
                    <a:p>
                      <a:pPr>
                        <a:lnSpc>
                          <a:spcPct val="107000"/>
                        </a:lnSpc>
                        <a:spcAft>
                          <a:spcPts val="800"/>
                        </a:spcAft>
                      </a:pPr>
                      <a:r>
                        <a:rPr lang="fr-FR" sz="800" kern="0">
                          <a:effectLst/>
                        </a:rPr>
                        <a:t>Caractéristiques Socio Demographiques</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6">
                  <a:txBody>
                    <a:bodyPr/>
                    <a:lstStyle/>
                    <a:p>
                      <a:pPr algn="ctr">
                        <a:lnSpc>
                          <a:spcPct val="107000"/>
                        </a:lnSpc>
                        <a:spcAft>
                          <a:spcPts val="800"/>
                        </a:spcAft>
                      </a:pPr>
                      <a:r>
                        <a:rPr lang="fr-FR" sz="800" kern="0">
                          <a:effectLst/>
                        </a:rPr>
                        <a:t>Population au chômage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nSpc>
                          <a:spcPct val="107000"/>
                        </a:lnSpc>
                      </a:pPr>
                      <a:endParaRPr lang="fr-FR" sz="800" kern="100">
                        <a:effectLst/>
                        <a:latin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673802059"/>
                  </a:ext>
                </a:extLst>
              </a:tr>
              <a:tr h="229922">
                <a:tc>
                  <a:txBody>
                    <a:bodyPr/>
                    <a:lstStyle/>
                    <a:p>
                      <a:pPr>
                        <a:lnSpc>
                          <a:spcPct val="107000"/>
                        </a:lnSpc>
                      </a:pPr>
                      <a:endParaRPr lang="fr-FR" sz="800" kern="100">
                        <a:effectLst/>
                        <a:latin typeface="Calibri" panose="020F0502020204030204" pitchFamily="34" charset="0"/>
                        <a:cs typeface="Times New Roman" panose="02020603050405020304" pitchFamily="18" charset="0"/>
                      </a:endParaRPr>
                    </a:p>
                  </a:txBody>
                  <a:tcPr marL="30315" marR="30315" marT="0" marB="0" anchor="b"/>
                </a:tc>
                <a:tc gridSpan="2">
                  <a:txBody>
                    <a:bodyPr/>
                    <a:lstStyle/>
                    <a:p>
                      <a:pPr>
                        <a:lnSpc>
                          <a:spcPct val="107000"/>
                        </a:lnSpc>
                        <a:spcAft>
                          <a:spcPts val="800"/>
                        </a:spcAft>
                      </a:pPr>
                      <a:r>
                        <a:rPr lang="fr-FR" sz="800" kern="0">
                          <a:effectLst/>
                        </a:rPr>
                        <a:t>Effectif T2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nSpc>
                          <a:spcPct val="107000"/>
                        </a:lnSpc>
                        <a:spcAft>
                          <a:spcPts val="800"/>
                        </a:spcAft>
                      </a:pPr>
                      <a:r>
                        <a:rPr lang="fr-FR" sz="800" kern="0">
                          <a:effectLst/>
                        </a:rPr>
                        <a:t>Effectif T3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Effectif T4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Profil Ligne T2)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Profil Ligne T3)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Profil Ligne T4)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199332651"/>
                  </a:ext>
                </a:extLst>
              </a:tr>
              <a:tr h="229922">
                <a:tc>
                  <a:txBody>
                    <a:bodyPr/>
                    <a:lstStyle/>
                    <a:p>
                      <a:pPr>
                        <a:lnSpc>
                          <a:spcPct val="107000"/>
                        </a:lnSpc>
                        <a:spcAft>
                          <a:spcPts val="800"/>
                        </a:spcAft>
                      </a:pPr>
                      <a:r>
                        <a:rPr lang="fr-FR" sz="800" kern="0">
                          <a:effectLst/>
                        </a:rPr>
                        <a:t>Milieu de Résidence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178649812"/>
                  </a:ext>
                </a:extLst>
              </a:tr>
              <a:tr h="229922">
                <a:tc>
                  <a:txBody>
                    <a:bodyPr/>
                    <a:lstStyle/>
                    <a:p>
                      <a:pPr>
                        <a:lnSpc>
                          <a:spcPct val="107000"/>
                        </a:lnSpc>
                        <a:spcAft>
                          <a:spcPts val="800"/>
                        </a:spcAft>
                      </a:pPr>
                      <a:r>
                        <a:rPr lang="fr-FR" sz="800" kern="0">
                          <a:effectLst/>
                        </a:rPr>
                        <a:t>Abidjan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250322,42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110104,02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13,00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11,62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4,33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6,02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467434103"/>
                  </a:ext>
                </a:extLst>
              </a:tr>
              <a:tr h="229922">
                <a:tc>
                  <a:txBody>
                    <a:bodyPr/>
                    <a:lstStyle/>
                    <a:p>
                      <a:pPr>
                        <a:lnSpc>
                          <a:spcPct val="107000"/>
                        </a:lnSpc>
                        <a:spcAft>
                          <a:spcPts val="800"/>
                        </a:spcAft>
                      </a:pPr>
                      <a:r>
                        <a:rPr lang="fr-FR" sz="800" kern="0">
                          <a:effectLst/>
                        </a:rPr>
                        <a:t>Autre Urbain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180589,76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304669,54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162,00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4,53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8,30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5,62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161825433"/>
                  </a:ext>
                </a:extLst>
              </a:tr>
              <a:tr h="229922">
                <a:tc>
                  <a:txBody>
                    <a:bodyPr/>
                    <a:lstStyle/>
                    <a:p>
                      <a:pPr>
                        <a:lnSpc>
                          <a:spcPct val="107000"/>
                        </a:lnSpc>
                        <a:spcAft>
                          <a:spcPts val="800"/>
                        </a:spcAft>
                      </a:pPr>
                      <a:r>
                        <a:rPr lang="fr-FR" sz="800" kern="0">
                          <a:effectLst/>
                        </a:rPr>
                        <a:t>Rural</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127644,93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136214,52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76,00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2,73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2,78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2,47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775703486"/>
                  </a:ext>
                </a:extLst>
              </a:tr>
              <a:tr h="121606">
                <a:tc>
                  <a:txBody>
                    <a:bodyPr/>
                    <a:lstStyle/>
                    <a:p>
                      <a:pPr>
                        <a:lnSpc>
                          <a:spcPct val="107000"/>
                        </a:lnSpc>
                        <a:spcAft>
                          <a:spcPts val="800"/>
                        </a:spcAft>
                      </a:pPr>
                      <a:r>
                        <a:rPr lang="fr-FR" sz="800" kern="0">
                          <a:effectLst/>
                        </a:rPr>
                        <a:t>Sexe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028607792"/>
                  </a:ext>
                </a:extLst>
              </a:tr>
              <a:tr h="229922">
                <a:tc>
                  <a:txBody>
                    <a:bodyPr/>
                    <a:lstStyle/>
                    <a:p>
                      <a:pPr>
                        <a:lnSpc>
                          <a:spcPct val="107000"/>
                        </a:lnSpc>
                        <a:spcAft>
                          <a:spcPts val="800"/>
                        </a:spcAft>
                      </a:pPr>
                      <a:r>
                        <a:rPr lang="fr-FR" sz="800" kern="0">
                          <a:effectLst/>
                        </a:rPr>
                        <a:t>Masculin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216449,92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214129,14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89,00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3,39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3,43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2,65</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820624800"/>
                  </a:ext>
                </a:extLst>
              </a:tr>
              <a:tr h="229922">
                <a:tc>
                  <a:txBody>
                    <a:bodyPr/>
                    <a:lstStyle/>
                    <a:p>
                      <a:pPr>
                        <a:lnSpc>
                          <a:spcPct val="107000"/>
                        </a:lnSpc>
                        <a:spcAft>
                          <a:spcPts val="800"/>
                        </a:spcAft>
                      </a:pPr>
                      <a:r>
                        <a:rPr lang="fr-FR" sz="800" kern="0">
                          <a:effectLst/>
                        </a:rPr>
                        <a:t>Feminin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342107,19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336858,94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162,00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7,74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6,92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5,73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944535117"/>
                  </a:ext>
                </a:extLst>
              </a:tr>
              <a:tr h="121606">
                <a:tc>
                  <a:txBody>
                    <a:bodyPr/>
                    <a:lstStyle/>
                    <a:p>
                      <a:pPr>
                        <a:lnSpc>
                          <a:spcPct val="107000"/>
                        </a:lnSpc>
                        <a:spcAft>
                          <a:spcPts val="800"/>
                        </a:spcAft>
                      </a:pPr>
                      <a:r>
                        <a:rPr lang="fr-FR" sz="800" kern="0">
                          <a:effectLst/>
                        </a:rPr>
                        <a:t>Groupe d'Age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544024444"/>
                  </a:ext>
                </a:extLst>
              </a:tr>
              <a:tr h="229922">
                <a:tc>
                  <a:txBody>
                    <a:bodyPr/>
                    <a:lstStyle/>
                    <a:p>
                      <a:pPr>
                        <a:lnSpc>
                          <a:spcPct val="107000"/>
                        </a:lnSpc>
                        <a:spcAft>
                          <a:spcPts val="800"/>
                        </a:spcAft>
                      </a:pPr>
                      <a:r>
                        <a:rPr lang="fr-FR" sz="800" kern="0">
                          <a:effectLst/>
                        </a:rPr>
                        <a:t>16-24 ans</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267018,60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213282,27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87,00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dirty="0">
                          <a:effectLst/>
                        </a:rPr>
                        <a:t>11,64</a:t>
                      </a:r>
                      <a:endParaRPr lang="fr-FR"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9,74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7,58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1002485"/>
                  </a:ext>
                </a:extLst>
              </a:tr>
              <a:tr h="229922">
                <a:tc>
                  <a:txBody>
                    <a:bodyPr/>
                    <a:lstStyle/>
                    <a:p>
                      <a:pPr>
                        <a:lnSpc>
                          <a:spcPct val="107000"/>
                        </a:lnSpc>
                        <a:spcAft>
                          <a:spcPts val="800"/>
                        </a:spcAft>
                      </a:pPr>
                      <a:r>
                        <a:rPr lang="fr-FR" sz="800" kern="0">
                          <a:effectLst/>
                        </a:rPr>
                        <a:t>25-35 ans</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164617,32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169157,64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93,00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5,04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4,76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4,94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097604041"/>
                  </a:ext>
                </a:extLst>
              </a:tr>
              <a:tr h="229922">
                <a:tc>
                  <a:txBody>
                    <a:bodyPr/>
                    <a:lstStyle/>
                    <a:p>
                      <a:pPr>
                        <a:lnSpc>
                          <a:spcPct val="107000"/>
                        </a:lnSpc>
                        <a:spcAft>
                          <a:spcPts val="800"/>
                        </a:spcAft>
                      </a:pPr>
                      <a:r>
                        <a:rPr lang="fr-FR" sz="800" kern="0">
                          <a:effectLst/>
                        </a:rPr>
                        <a:t>36-64 ans</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126921,19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164807,60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67,00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2,56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3,23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2,27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67641576"/>
                  </a:ext>
                </a:extLst>
              </a:tr>
              <a:tr h="121606">
                <a:tc>
                  <a:txBody>
                    <a:bodyPr/>
                    <a:lstStyle/>
                    <a:p>
                      <a:pPr>
                        <a:lnSpc>
                          <a:spcPct val="107000"/>
                        </a:lnSpc>
                        <a:spcAft>
                          <a:spcPts val="800"/>
                        </a:spcAft>
                      </a:pPr>
                      <a:r>
                        <a:rPr lang="fr-FR" sz="800" kern="0">
                          <a:effectLst/>
                        </a:rPr>
                        <a:t>65 ans et plus</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0,00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3740,58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0,00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1,33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2,07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695433938"/>
                  </a:ext>
                </a:extLst>
              </a:tr>
              <a:tr h="121606">
                <a:tc gridSpan="2">
                  <a:txBody>
                    <a:bodyPr/>
                    <a:lstStyle/>
                    <a:p>
                      <a:pPr>
                        <a:lnSpc>
                          <a:spcPct val="107000"/>
                        </a:lnSpc>
                        <a:spcAft>
                          <a:spcPts val="800"/>
                        </a:spcAft>
                      </a:pPr>
                      <a:r>
                        <a:rPr lang="fr-FR" sz="800" kern="0">
                          <a:effectLst/>
                        </a:rPr>
                        <a:t>Niveau d'Instruction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nSpc>
                          <a:spcPct val="107000"/>
                        </a:lnSpc>
                        <a:spcAft>
                          <a:spcPts val="800"/>
                        </a:spcAft>
                      </a:pPr>
                      <a:r>
                        <a:rPr lang="fr-FR" sz="800" kern="0">
                          <a:effectLst/>
                        </a:rPr>
                        <a:t> </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369786421"/>
                  </a:ext>
                </a:extLst>
              </a:tr>
              <a:tr h="229922">
                <a:tc>
                  <a:txBody>
                    <a:bodyPr/>
                    <a:lstStyle/>
                    <a:p>
                      <a:pPr>
                        <a:lnSpc>
                          <a:spcPct val="107000"/>
                        </a:lnSpc>
                        <a:spcAft>
                          <a:spcPts val="800"/>
                        </a:spcAft>
                      </a:pPr>
                      <a:r>
                        <a:rPr lang="fr-FR" sz="800" kern="0">
                          <a:effectLst/>
                        </a:rPr>
                        <a:t>Aucun</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129238,60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133336,31</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77,00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2,59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2,66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2,37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258433405"/>
                  </a:ext>
                </a:extLst>
              </a:tr>
              <a:tr h="121606">
                <a:tc>
                  <a:txBody>
                    <a:bodyPr/>
                    <a:lstStyle/>
                    <a:p>
                      <a:pPr>
                        <a:lnSpc>
                          <a:spcPct val="107000"/>
                        </a:lnSpc>
                        <a:spcAft>
                          <a:spcPts val="800"/>
                        </a:spcAft>
                      </a:pPr>
                      <a:r>
                        <a:rPr lang="fr-FR" sz="800" kern="0">
                          <a:effectLst/>
                        </a:rPr>
                        <a:t>Primaire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155267,86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67357,79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54,00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6,65</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2,93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4,33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314612437"/>
                  </a:ext>
                </a:extLst>
              </a:tr>
              <a:tr h="229922">
                <a:tc>
                  <a:txBody>
                    <a:bodyPr/>
                    <a:lstStyle/>
                    <a:p>
                      <a:pPr>
                        <a:lnSpc>
                          <a:spcPct val="107000"/>
                        </a:lnSpc>
                        <a:spcAft>
                          <a:spcPts val="800"/>
                        </a:spcAft>
                      </a:pPr>
                      <a:r>
                        <a:rPr lang="fr-FR" sz="800" kern="0">
                          <a:effectLst/>
                        </a:rPr>
                        <a:t>Secondaire  1er Cycle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56114,07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106435,16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45,00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3,15</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6,04</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5,45</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54094058"/>
                  </a:ext>
                </a:extLst>
              </a:tr>
              <a:tr h="229922">
                <a:tc>
                  <a:txBody>
                    <a:bodyPr/>
                    <a:lstStyle/>
                    <a:p>
                      <a:pPr>
                        <a:lnSpc>
                          <a:spcPct val="107000"/>
                        </a:lnSpc>
                        <a:spcAft>
                          <a:spcPts val="800"/>
                        </a:spcAft>
                      </a:pPr>
                      <a:r>
                        <a:rPr lang="fr-FR" sz="800" kern="0">
                          <a:effectLst/>
                        </a:rPr>
                        <a:t>Secondaire  2nd Cycle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63602,92</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45769,03</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55,00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7,58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4,71</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10,48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1709587180"/>
                  </a:ext>
                </a:extLst>
              </a:tr>
              <a:tr h="229922">
                <a:tc>
                  <a:txBody>
                    <a:bodyPr/>
                    <a:lstStyle/>
                    <a:p>
                      <a:pPr>
                        <a:lnSpc>
                          <a:spcPct val="107000"/>
                        </a:lnSpc>
                        <a:spcAft>
                          <a:spcPts val="800"/>
                        </a:spcAft>
                      </a:pPr>
                      <a:r>
                        <a:rPr lang="fr-FR" sz="800" kern="0">
                          <a:effectLst/>
                        </a:rPr>
                        <a:t>Supérieur</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154333,65</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198089,80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19,00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17,90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18,49</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5,71</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2442256834"/>
                  </a:ext>
                </a:extLst>
              </a:tr>
              <a:tr h="229922">
                <a:tc>
                  <a:txBody>
                    <a:bodyPr/>
                    <a:lstStyle/>
                    <a:p>
                      <a:pPr>
                        <a:lnSpc>
                          <a:spcPct val="107000"/>
                        </a:lnSpc>
                        <a:spcAft>
                          <a:spcPts val="800"/>
                        </a:spcAft>
                      </a:pPr>
                      <a:r>
                        <a:rPr lang="fr-FR" sz="800" kern="0">
                          <a:effectLst/>
                        </a:rPr>
                        <a:t>Ensemble</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gridSpan="2">
                  <a:txBody>
                    <a:bodyPr/>
                    <a:lstStyle/>
                    <a:p>
                      <a:pPr algn="r">
                        <a:lnSpc>
                          <a:spcPct val="107000"/>
                        </a:lnSpc>
                        <a:spcAft>
                          <a:spcPts val="800"/>
                        </a:spcAft>
                      </a:pPr>
                      <a:r>
                        <a:rPr lang="fr-FR" sz="800" kern="0">
                          <a:effectLst/>
                        </a:rPr>
                        <a:t>558557,11</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hMerge="1">
                  <a:txBody>
                    <a:bodyPr/>
                    <a:lstStyle/>
                    <a:p>
                      <a:endParaRPr lang="fr-FR"/>
                    </a:p>
                  </a:txBody>
                  <a:tcPr/>
                </a:tc>
                <a:tc>
                  <a:txBody>
                    <a:bodyPr/>
                    <a:lstStyle/>
                    <a:p>
                      <a:pPr algn="r">
                        <a:lnSpc>
                          <a:spcPct val="107000"/>
                        </a:lnSpc>
                        <a:spcAft>
                          <a:spcPts val="800"/>
                        </a:spcAft>
                      </a:pPr>
                      <a:r>
                        <a:rPr lang="fr-FR" sz="800" kern="0">
                          <a:effectLst/>
                        </a:rPr>
                        <a:t>550988,08</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251,00</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5,17</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a:effectLst/>
                        </a:rPr>
                        <a:t>4,96</a:t>
                      </a:r>
                      <a:endParaRPr lang="fr-FR"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tc>
                  <a:txBody>
                    <a:bodyPr/>
                    <a:lstStyle/>
                    <a:p>
                      <a:pPr algn="r">
                        <a:lnSpc>
                          <a:spcPct val="107000"/>
                        </a:lnSpc>
                        <a:spcAft>
                          <a:spcPts val="800"/>
                        </a:spcAft>
                      </a:pPr>
                      <a:r>
                        <a:rPr lang="fr-FR" sz="800" kern="0" dirty="0">
                          <a:effectLst/>
                        </a:rPr>
                        <a:t>4,06</a:t>
                      </a:r>
                      <a:endParaRPr lang="fr-FR"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0315" marR="30315" marT="0" marB="0" anchor="b"/>
                </a:tc>
                <a:extLst>
                  <a:ext uri="{0D108BD9-81ED-4DB2-BD59-A6C34878D82A}">
                    <a16:rowId xmlns:a16="http://schemas.microsoft.com/office/drawing/2014/main" val="3202888994"/>
                  </a:ext>
                </a:extLst>
              </a:tr>
            </a:tbl>
          </a:graphicData>
        </a:graphic>
      </p:graphicFrame>
      <p:sp>
        <p:nvSpPr>
          <p:cNvPr id="8" name="Espace réservé du pied de page 1">
            <a:extLst>
              <a:ext uri="{FF2B5EF4-FFF2-40B4-BE49-F238E27FC236}">
                <a16:creationId xmlns:a16="http://schemas.microsoft.com/office/drawing/2014/main" id="{3E1FC394-2387-203C-C12B-A01B421BAC6C}"/>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411943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763F0-633D-562E-6DA2-BCDAD87D5FFE}"/>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33448513-6D43-F615-F5B1-3BE5943C89B7}"/>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C9B5F307-D052-82C7-BC2C-EEA6FFD1CEB7}"/>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AB7D9F97-D85B-683D-2346-22E8A81FE6B1}"/>
              </a:ext>
            </a:extLst>
          </p:cNvPr>
          <p:cNvSpPr txBox="1"/>
          <p:nvPr/>
        </p:nvSpPr>
        <p:spPr>
          <a:xfrm>
            <a:off x="1540351" y="113983"/>
            <a:ext cx="8970111"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3. Modification </a:t>
            </a:r>
            <a:r>
              <a:rPr lang="en-US" sz="2400" b="1" dirty="0" err="1">
                <a:solidFill>
                  <a:schemeClr val="accent1"/>
                </a:solidFill>
                <a:latin typeface="Garamond" panose="02020404030301010803" pitchFamily="18" charset="0"/>
              </a:rPr>
              <a:t>apportée</a:t>
            </a:r>
            <a:r>
              <a:rPr lang="en-US" sz="2400" b="1" dirty="0">
                <a:solidFill>
                  <a:schemeClr val="accent1"/>
                </a:solidFill>
                <a:latin typeface="Garamond" panose="02020404030301010803" pitchFamily="18" charset="0"/>
              </a:rPr>
              <a:t> au </a:t>
            </a:r>
            <a:r>
              <a:rPr lang="en-US" sz="2400" b="1" dirty="0" err="1">
                <a:solidFill>
                  <a:schemeClr val="accent1"/>
                </a:solidFill>
                <a:latin typeface="Garamond" panose="02020404030301010803" pitchFamily="18" charset="0"/>
              </a:rPr>
              <a:t>calcul</a:t>
            </a:r>
            <a:r>
              <a:rPr lang="en-US" sz="2400" b="1" dirty="0">
                <a:solidFill>
                  <a:schemeClr val="accent1"/>
                </a:solidFill>
                <a:latin typeface="Garamond" panose="02020404030301010803" pitchFamily="18" charset="0"/>
              </a:rPr>
              <a:t> du </a:t>
            </a:r>
            <a:r>
              <a:rPr lang="en-US" sz="2400" b="1" dirty="0" err="1">
                <a:solidFill>
                  <a:schemeClr val="accent1"/>
                </a:solidFill>
                <a:latin typeface="Garamond" panose="02020404030301010803" pitchFamily="18" charset="0"/>
              </a:rPr>
              <a:t>taux</a:t>
            </a:r>
            <a:r>
              <a:rPr lang="en-US" sz="2400" b="1" dirty="0">
                <a:solidFill>
                  <a:schemeClr val="accent1"/>
                </a:solidFill>
                <a:latin typeface="Garamond" panose="02020404030301010803" pitchFamily="18" charset="0"/>
              </a:rPr>
              <a:t> de chomage (1/1)</a:t>
            </a:r>
          </a:p>
          <a:p>
            <a:r>
              <a:rPr lang="en-US" sz="2000" i="1" dirty="0" err="1">
                <a:solidFill>
                  <a:schemeClr val="accent1"/>
                </a:solidFill>
                <a:latin typeface="Garamond" panose="02020404030301010803" pitchFamily="18" charset="0"/>
              </a:rPr>
              <a:t>Prise</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en</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compte</a:t>
            </a:r>
            <a:r>
              <a:rPr lang="en-US" sz="2000" i="1" dirty="0">
                <a:solidFill>
                  <a:schemeClr val="accent1"/>
                </a:solidFill>
                <a:latin typeface="Garamond" panose="02020404030301010803" pitchFamily="18" charset="0"/>
              </a:rPr>
              <a:t> des futures starters</a:t>
            </a:r>
            <a:endParaRPr lang="fr-FR" sz="2000" i="1" dirty="0">
              <a:solidFill>
                <a:schemeClr val="accent1"/>
              </a:solidFill>
              <a:latin typeface="Garamond" panose="02020404030301010803" pitchFamily="18" charset="0"/>
            </a:endParaRPr>
          </a:p>
        </p:txBody>
      </p:sp>
      <p:sp>
        <p:nvSpPr>
          <p:cNvPr id="27" name="ZoneTexte 26">
            <a:extLst>
              <a:ext uri="{FF2B5EF4-FFF2-40B4-BE49-F238E27FC236}">
                <a16:creationId xmlns:a16="http://schemas.microsoft.com/office/drawing/2014/main" id="{DB39A2EA-09CA-4B05-8D0E-4284C820F80F}"/>
              </a:ext>
            </a:extLst>
          </p:cNvPr>
          <p:cNvSpPr txBox="1"/>
          <p:nvPr/>
        </p:nvSpPr>
        <p:spPr>
          <a:xfrm>
            <a:off x="838200" y="1309266"/>
            <a:ext cx="10617485" cy="2031325"/>
          </a:xfrm>
          <a:prstGeom prst="rect">
            <a:avLst/>
          </a:prstGeom>
          <a:noFill/>
        </p:spPr>
        <p:txBody>
          <a:bodyPr wrap="square">
            <a:spAutoFit/>
          </a:bodyPr>
          <a:lstStyle/>
          <a:p>
            <a:pPr marL="342900" indent="-342900" algn="just">
              <a:buFont typeface="Arial" panose="020B0604020202020204" pitchFamily="34" charset="0"/>
              <a:buChar char="•"/>
            </a:pPr>
            <a:r>
              <a:rPr lang="fr-FR" dirty="0">
                <a:latin typeface="Garamond" panose="02020404030301010803" pitchFamily="18" charset="0"/>
              </a:rPr>
              <a:t>La formule de calcul du taux de chômage initialement retenue a été modifié afin de BIEN prendre en compte les « futur starters » conformément aux résolutions et normes concernant les indicateurs du marché du travail.</a:t>
            </a:r>
          </a:p>
          <a:p>
            <a:pPr algn="just"/>
            <a:endParaRPr lang="fr-FR" dirty="0">
              <a:latin typeface="Garamond" panose="02020404030301010803" pitchFamily="18" charset="0"/>
            </a:endParaRPr>
          </a:p>
          <a:p>
            <a:pPr marL="342900" indent="-342900" algn="just">
              <a:buFont typeface="Arial" panose="020B0604020202020204" pitchFamily="34" charset="0"/>
              <a:buChar char="•"/>
            </a:pPr>
            <a:r>
              <a:rPr lang="fr-FR" dirty="0">
                <a:latin typeface="Garamond" panose="02020404030301010803" pitchFamily="18" charset="0"/>
              </a:rPr>
              <a:t>Les « futur starters » sont les personnes sans emploi, n’ayant pas cherché d’emploi pour cause de promesse d’embauche et disponibles pour occuper un emploi dans l’immédiat.  </a:t>
            </a:r>
          </a:p>
          <a:p>
            <a:pPr algn="just"/>
            <a:endParaRPr lang="fr-FR" dirty="0">
              <a:latin typeface="Garamond" panose="02020404030301010803" pitchFamily="18" charset="0"/>
            </a:endParaRPr>
          </a:p>
          <a:p>
            <a:pPr marL="342900" indent="-342900" algn="just">
              <a:buFont typeface="Arial" panose="020B0604020202020204" pitchFamily="34" charset="0"/>
              <a:buChar char="•"/>
            </a:pPr>
            <a:r>
              <a:rPr lang="fr-FR" dirty="0">
                <a:latin typeface="Garamond" panose="02020404030301010803" pitchFamily="18" charset="0"/>
              </a:rPr>
              <a:t>Présentation de la syntaxe initiale et de la syntaxe corrigée </a:t>
            </a:r>
          </a:p>
        </p:txBody>
      </p:sp>
      <p:pic>
        <p:nvPicPr>
          <p:cNvPr id="4" name="Image 3">
            <a:extLst>
              <a:ext uri="{FF2B5EF4-FFF2-40B4-BE49-F238E27FC236}">
                <a16:creationId xmlns:a16="http://schemas.microsoft.com/office/drawing/2014/main" id="{FBB6DDAF-45A7-3FEC-2DF0-0F7A18D78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630" y="3684656"/>
            <a:ext cx="10366624" cy="1954779"/>
          </a:xfrm>
          <a:prstGeom prst="rect">
            <a:avLst/>
          </a:prstGeom>
        </p:spPr>
      </p:pic>
      <p:sp>
        <p:nvSpPr>
          <p:cNvPr id="6" name="Espace réservé du pied de page 1">
            <a:extLst>
              <a:ext uri="{FF2B5EF4-FFF2-40B4-BE49-F238E27FC236}">
                <a16:creationId xmlns:a16="http://schemas.microsoft.com/office/drawing/2014/main" id="{F5FE6365-857E-4A6A-B98B-55ACC85EB465}"/>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88355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D193-D8DC-53BA-6EFB-B21B1A33B52C}"/>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3A7A4BE0-0245-50F7-9657-6D8E529CDED0}"/>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E4973B53-E236-E452-D8B7-90DCDCA6CC7C}"/>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CFDC1A64-AF34-D54A-3F4A-CC139F6DA92B}"/>
              </a:ext>
            </a:extLst>
          </p:cNvPr>
          <p:cNvSpPr txBox="1"/>
          <p:nvPr/>
        </p:nvSpPr>
        <p:spPr>
          <a:xfrm>
            <a:off x="1540351" y="113983"/>
            <a:ext cx="8970111"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4. </a:t>
            </a:r>
            <a:r>
              <a:rPr lang="en-US" sz="2400" b="1" dirty="0" err="1">
                <a:solidFill>
                  <a:schemeClr val="accent1"/>
                </a:solidFill>
                <a:latin typeface="Garamond" panose="02020404030301010803" pitchFamily="18" charset="0"/>
              </a:rPr>
              <a:t>Inconsistances</a:t>
            </a:r>
            <a:r>
              <a:rPr lang="en-US" sz="2400" b="1" dirty="0">
                <a:solidFill>
                  <a:schemeClr val="accent1"/>
                </a:solidFill>
                <a:latin typeface="Garamond" panose="02020404030301010803" pitchFamily="18" charset="0"/>
              </a:rPr>
              <a:t> </a:t>
            </a:r>
            <a:r>
              <a:rPr lang="en-US" sz="2400" b="1" dirty="0" err="1">
                <a:solidFill>
                  <a:schemeClr val="accent1"/>
                </a:solidFill>
                <a:latin typeface="Garamond" panose="02020404030301010803" pitchFamily="18" charset="0"/>
              </a:rPr>
              <a:t>observées</a:t>
            </a:r>
            <a:r>
              <a:rPr lang="en-US" sz="2400" b="1" dirty="0">
                <a:solidFill>
                  <a:schemeClr val="accent1"/>
                </a:solidFill>
                <a:latin typeface="Garamond" panose="02020404030301010803" pitchFamily="18" charset="0"/>
              </a:rPr>
              <a:t> sur </a:t>
            </a:r>
            <a:r>
              <a:rPr lang="en-US" sz="2400" b="1" dirty="0" err="1">
                <a:solidFill>
                  <a:schemeClr val="accent1"/>
                </a:solidFill>
                <a:latin typeface="Garamond" panose="02020404030301010803" pitchFamily="18" charset="0"/>
              </a:rPr>
              <a:t>certains</a:t>
            </a:r>
            <a:r>
              <a:rPr lang="en-US" sz="2400" b="1" dirty="0">
                <a:solidFill>
                  <a:schemeClr val="accent1"/>
                </a:solidFill>
                <a:latin typeface="Garamond" panose="02020404030301010803" pitchFamily="18" charset="0"/>
              </a:rPr>
              <a:t> Indicateurs (1/2)</a:t>
            </a:r>
          </a:p>
          <a:p>
            <a:r>
              <a:rPr lang="en-US" sz="2000" i="1" dirty="0">
                <a:solidFill>
                  <a:schemeClr val="accent1"/>
                </a:solidFill>
                <a:latin typeface="Garamond" panose="02020404030301010803" pitchFamily="18" charset="0"/>
              </a:rPr>
              <a:t>Les </a:t>
            </a:r>
            <a:r>
              <a:rPr lang="en-US" sz="2000" i="1" dirty="0" err="1">
                <a:solidFill>
                  <a:schemeClr val="accent1"/>
                </a:solidFill>
                <a:latin typeface="Garamond" panose="02020404030301010803" pitchFamily="18" charset="0"/>
              </a:rPr>
              <a:t>resultats</a:t>
            </a:r>
            <a:r>
              <a:rPr lang="en-US" sz="2000" i="1" dirty="0">
                <a:solidFill>
                  <a:schemeClr val="accent1"/>
                </a:solidFill>
                <a:latin typeface="Garamond" panose="02020404030301010803" pitchFamily="18" charset="0"/>
              </a:rPr>
              <a:t> de </a:t>
            </a:r>
            <a:r>
              <a:rPr lang="en-US" sz="2000" i="1" dirty="0" err="1">
                <a:solidFill>
                  <a:schemeClr val="accent1"/>
                </a:solidFill>
                <a:latin typeface="Garamond" panose="02020404030301010803" pitchFamily="18" charset="0"/>
              </a:rPr>
              <a:t>certains</a:t>
            </a:r>
            <a:r>
              <a:rPr lang="en-US" sz="2000" i="1" dirty="0">
                <a:solidFill>
                  <a:schemeClr val="accent1"/>
                </a:solidFill>
                <a:latin typeface="Garamond" panose="02020404030301010803" pitchFamily="18" charset="0"/>
              </a:rPr>
              <a:t> Indicateurs </a:t>
            </a:r>
            <a:r>
              <a:rPr lang="en-US" sz="2000" i="1" dirty="0" err="1">
                <a:solidFill>
                  <a:schemeClr val="accent1"/>
                </a:solidFill>
                <a:latin typeface="Garamond" panose="02020404030301010803" pitchFamily="18" charset="0"/>
              </a:rPr>
              <a:t>ont</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été</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jugé</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inconsistants</a:t>
            </a:r>
            <a:endParaRPr lang="fr-FR" sz="2000" i="1" dirty="0">
              <a:solidFill>
                <a:schemeClr val="accent1"/>
              </a:solidFill>
              <a:latin typeface="Garamond" panose="02020404030301010803" pitchFamily="18" charset="0"/>
            </a:endParaRPr>
          </a:p>
        </p:txBody>
      </p:sp>
      <p:sp>
        <p:nvSpPr>
          <p:cNvPr id="20" name="ZoneTexte 19">
            <a:extLst>
              <a:ext uri="{FF2B5EF4-FFF2-40B4-BE49-F238E27FC236}">
                <a16:creationId xmlns:a16="http://schemas.microsoft.com/office/drawing/2014/main" id="{827594FF-4B68-0E02-46D9-2B20830C84C5}"/>
              </a:ext>
            </a:extLst>
          </p:cNvPr>
          <p:cNvSpPr txBox="1"/>
          <p:nvPr/>
        </p:nvSpPr>
        <p:spPr>
          <a:xfrm>
            <a:off x="271485" y="1388986"/>
            <a:ext cx="11507841" cy="5016758"/>
          </a:xfrm>
          <a:prstGeom prst="rect">
            <a:avLst/>
          </a:prstGeom>
          <a:noFill/>
        </p:spPr>
        <p:txBody>
          <a:bodyPr wrap="square">
            <a:spAutoFit/>
          </a:bodyPr>
          <a:lstStyle/>
          <a:p>
            <a:pPr marL="800100" lvl="1" indent="-342900" algn="just">
              <a:buFont typeface="Arial" panose="020B0604020202020204" pitchFamily="34" charset="0"/>
              <a:buChar char="•"/>
            </a:pPr>
            <a:r>
              <a:rPr lang="fr-FR" sz="2000" dirty="0">
                <a:latin typeface="Garamond" panose="02020404030301010803" pitchFamily="18" charset="0"/>
              </a:rPr>
              <a:t>Après le calcul des indicateurs, ceux-ci sont présentés à un comité technique pour la validation des résultats.</a:t>
            </a:r>
          </a:p>
          <a:p>
            <a:pPr marL="800100" lvl="1" indent="-342900" algn="just">
              <a:buFont typeface="Arial" panose="020B0604020202020204" pitchFamily="34" charset="0"/>
              <a:buChar char="•"/>
            </a:pPr>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Ce faisant, les résultats de certains indicateurs peuvent être jugés inconsistants, au vu des tendances généralement espérées. </a:t>
            </a:r>
          </a:p>
          <a:p>
            <a:pPr marL="800100" lvl="1" indent="-342900" algn="just">
              <a:buFont typeface="Arial" panose="020B0604020202020204" pitchFamily="34" charset="0"/>
              <a:buChar char="•"/>
            </a:pPr>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A cet effet, les résultats des indicateurs suivants ont été jugés inconsistants ont été relevé :</a:t>
            </a:r>
          </a:p>
          <a:p>
            <a:pPr lvl="1" algn="just"/>
            <a:endParaRPr lang="fr-FR" sz="2000" dirty="0">
              <a:latin typeface="Garamond" panose="02020404030301010803" pitchFamily="18" charset="0"/>
            </a:endParaRPr>
          </a:p>
          <a:p>
            <a:pPr lvl="1" algn="just"/>
            <a:r>
              <a:rPr lang="fr-FR" sz="2000" dirty="0">
                <a:latin typeface="Garamond" panose="02020404030301010803" pitchFamily="18" charset="0"/>
              </a:rPr>
              <a:t>	-  </a:t>
            </a:r>
            <a:r>
              <a:rPr lang="fr-FR" sz="2000" b="1" dirty="0">
                <a:latin typeface="Garamond" panose="02020404030301010803" pitchFamily="18" charset="0"/>
              </a:rPr>
              <a:t>Le taux de chômage par milieu de résidence au T3 2024 : </a:t>
            </a:r>
          </a:p>
          <a:p>
            <a:pPr lvl="1" algn="just"/>
            <a:endParaRPr lang="fr-FR" sz="2000" b="1" dirty="0">
              <a:latin typeface="Garamond" panose="02020404030301010803" pitchFamily="18" charset="0"/>
            </a:endParaRPr>
          </a:p>
          <a:p>
            <a:pPr lvl="1" algn="just"/>
            <a:r>
              <a:rPr lang="fr-FR" sz="2000" dirty="0">
                <a:latin typeface="Garamond" panose="02020404030301010803" pitchFamily="18" charset="0"/>
              </a:rPr>
              <a:t>Au T3 2024, les premiers résultats ont indiqué un taux de chômage à Abidjan beaucoup plus faible que celui des autres milieux urbains, alors que le contraire a été généralement observé au cours des études antérieures sur le marché de l’emploi Ivoirien.</a:t>
            </a:r>
          </a:p>
          <a:p>
            <a:pPr lvl="1" algn="just"/>
            <a:endParaRPr lang="fr-FR" sz="2000" dirty="0">
              <a:latin typeface="Garamond" panose="02020404030301010803" pitchFamily="18" charset="0"/>
            </a:endParaRP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endParaRPr lang="fr-FR" sz="2000" dirty="0">
              <a:latin typeface="Garamond" panose="02020404030301010803" pitchFamily="18" charset="0"/>
            </a:endParaRPr>
          </a:p>
        </p:txBody>
      </p:sp>
      <p:sp>
        <p:nvSpPr>
          <p:cNvPr id="4" name="Espace réservé du pied de page 1">
            <a:extLst>
              <a:ext uri="{FF2B5EF4-FFF2-40B4-BE49-F238E27FC236}">
                <a16:creationId xmlns:a16="http://schemas.microsoft.com/office/drawing/2014/main" id="{6712B89F-75A6-369B-7CEC-5F7E2346952B}"/>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570944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5328-3047-AD69-BFB9-AF1B6E0AFDDD}"/>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F0C4074A-CC52-31E1-9403-5F310B206037}"/>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D341EA98-106B-81FE-34E8-32B7BA5E5A65}"/>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4B97BB91-9F66-84DE-F79D-A027FA0E32F1}"/>
              </a:ext>
            </a:extLst>
          </p:cNvPr>
          <p:cNvSpPr txBox="1"/>
          <p:nvPr/>
        </p:nvSpPr>
        <p:spPr>
          <a:xfrm>
            <a:off x="1540351" y="113983"/>
            <a:ext cx="8970111" cy="769441"/>
          </a:xfrm>
          <a:prstGeom prst="rect">
            <a:avLst/>
          </a:prstGeom>
          <a:noFill/>
        </p:spPr>
        <p:txBody>
          <a:bodyPr wrap="square">
            <a:spAutoFit/>
          </a:bodyPr>
          <a:lstStyle/>
          <a:p>
            <a:r>
              <a:rPr lang="en-US" sz="2400" b="1" dirty="0">
                <a:solidFill>
                  <a:schemeClr val="accent1"/>
                </a:solidFill>
                <a:latin typeface="Garamond" panose="02020404030301010803" pitchFamily="18" charset="0"/>
              </a:rPr>
              <a:t>4. </a:t>
            </a:r>
            <a:r>
              <a:rPr lang="en-US" sz="2400" b="1" dirty="0" err="1">
                <a:solidFill>
                  <a:schemeClr val="accent1"/>
                </a:solidFill>
                <a:latin typeface="Garamond" panose="02020404030301010803" pitchFamily="18" charset="0"/>
              </a:rPr>
              <a:t>Inconsistances</a:t>
            </a:r>
            <a:r>
              <a:rPr lang="en-US" sz="2400" b="1" dirty="0">
                <a:solidFill>
                  <a:schemeClr val="accent1"/>
                </a:solidFill>
                <a:latin typeface="Garamond" panose="02020404030301010803" pitchFamily="18" charset="0"/>
              </a:rPr>
              <a:t> </a:t>
            </a:r>
            <a:r>
              <a:rPr lang="en-US" sz="2400" b="1" dirty="0" err="1">
                <a:solidFill>
                  <a:schemeClr val="accent1"/>
                </a:solidFill>
                <a:latin typeface="Garamond" panose="02020404030301010803" pitchFamily="18" charset="0"/>
              </a:rPr>
              <a:t>observées</a:t>
            </a:r>
            <a:r>
              <a:rPr lang="en-US" sz="2400" b="1" dirty="0">
                <a:solidFill>
                  <a:schemeClr val="accent1"/>
                </a:solidFill>
                <a:latin typeface="Garamond" panose="02020404030301010803" pitchFamily="18" charset="0"/>
              </a:rPr>
              <a:t> sur </a:t>
            </a:r>
            <a:r>
              <a:rPr lang="en-US" sz="2400" b="1" dirty="0" err="1">
                <a:solidFill>
                  <a:schemeClr val="accent1"/>
                </a:solidFill>
                <a:latin typeface="Garamond" panose="02020404030301010803" pitchFamily="18" charset="0"/>
              </a:rPr>
              <a:t>certains</a:t>
            </a:r>
            <a:r>
              <a:rPr lang="en-US" sz="2400" b="1" dirty="0">
                <a:solidFill>
                  <a:schemeClr val="accent1"/>
                </a:solidFill>
                <a:latin typeface="Garamond" panose="02020404030301010803" pitchFamily="18" charset="0"/>
              </a:rPr>
              <a:t> Indicateurs (2/2)</a:t>
            </a:r>
          </a:p>
          <a:p>
            <a:r>
              <a:rPr lang="en-US" sz="2000" i="1" dirty="0">
                <a:solidFill>
                  <a:schemeClr val="accent1"/>
                </a:solidFill>
                <a:latin typeface="Garamond" panose="02020404030301010803" pitchFamily="18" charset="0"/>
              </a:rPr>
              <a:t>Les </a:t>
            </a:r>
            <a:r>
              <a:rPr lang="en-US" sz="2000" i="1" dirty="0" err="1">
                <a:solidFill>
                  <a:schemeClr val="accent1"/>
                </a:solidFill>
                <a:latin typeface="Garamond" panose="02020404030301010803" pitchFamily="18" charset="0"/>
              </a:rPr>
              <a:t>resultats</a:t>
            </a:r>
            <a:r>
              <a:rPr lang="en-US" sz="2000" i="1" dirty="0">
                <a:solidFill>
                  <a:schemeClr val="accent1"/>
                </a:solidFill>
                <a:latin typeface="Garamond" panose="02020404030301010803" pitchFamily="18" charset="0"/>
              </a:rPr>
              <a:t> de </a:t>
            </a:r>
            <a:r>
              <a:rPr lang="en-US" sz="2000" i="1" dirty="0" err="1">
                <a:solidFill>
                  <a:schemeClr val="accent1"/>
                </a:solidFill>
                <a:latin typeface="Garamond" panose="02020404030301010803" pitchFamily="18" charset="0"/>
              </a:rPr>
              <a:t>certains</a:t>
            </a:r>
            <a:r>
              <a:rPr lang="en-US" sz="2000" i="1" dirty="0">
                <a:solidFill>
                  <a:schemeClr val="accent1"/>
                </a:solidFill>
                <a:latin typeface="Garamond" panose="02020404030301010803" pitchFamily="18" charset="0"/>
              </a:rPr>
              <a:t> Indicateurs, </a:t>
            </a:r>
            <a:r>
              <a:rPr lang="en-US" sz="2000" i="1" dirty="0" err="1">
                <a:solidFill>
                  <a:schemeClr val="accent1"/>
                </a:solidFill>
                <a:latin typeface="Garamond" panose="02020404030301010803" pitchFamily="18" charset="0"/>
              </a:rPr>
              <a:t>jugés</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inconsistants</a:t>
            </a:r>
            <a:endParaRPr lang="fr-FR" sz="2000" i="1" dirty="0">
              <a:solidFill>
                <a:schemeClr val="accent1"/>
              </a:solidFill>
              <a:latin typeface="Garamond" panose="02020404030301010803" pitchFamily="18" charset="0"/>
            </a:endParaRPr>
          </a:p>
        </p:txBody>
      </p:sp>
      <p:sp>
        <p:nvSpPr>
          <p:cNvPr id="20" name="ZoneTexte 19">
            <a:extLst>
              <a:ext uri="{FF2B5EF4-FFF2-40B4-BE49-F238E27FC236}">
                <a16:creationId xmlns:a16="http://schemas.microsoft.com/office/drawing/2014/main" id="{F6522856-8851-8857-01E5-C7F5BEB6BDAB}"/>
              </a:ext>
            </a:extLst>
          </p:cNvPr>
          <p:cNvSpPr txBox="1"/>
          <p:nvPr/>
        </p:nvSpPr>
        <p:spPr>
          <a:xfrm>
            <a:off x="199566" y="1245148"/>
            <a:ext cx="11507841" cy="4401205"/>
          </a:xfrm>
          <a:prstGeom prst="rect">
            <a:avLst/>
          </a:prstGeom>
          <a:noFill/>
        </p:spPr>
        <p:txBody>
          <a:bodyPr wrap="square">
            <a:spAutoFit/>
          </a:bodyPr>
          <a:lstStyle/>
          <a:p>
            <a:pPr lvl="1" algn="just"/>
            <a:endParaRPr lang="fr-FR" sz="2000" dirty="0">
              <a:latin typeface="Garamond" panose="02020404030301010803" pitchFamily="18" charset="0"/>
            </a:endParaRPr>
          </a:p>
          <a:p>
            <a:pPr lvl="1" algn="just"/>
            <a:r>
              <a:rPr lang="fr-FR" sz="2000" dirty="0">
                <a:latin typeface="Garamond" panose="02020404030301010803" pitchFamily="18" charset="0"/>
              </a:rPr>
              <a:t>	-  </a:t>
            </a:r>
            <a:r>
              <a:rPr lang="fr-FR" sz="2000" b="1" dirty="0">
                <a:latin typeface="Garamond" panose="02020404030301010803" pitchFamily="18" charset="0"/>
              </a:rPr>
              <a:t>Emploi Vulnérable au T2 </a:t>
            </a:r>
          </a:p>
          <a:p>
            <a:pPr lvl="1" algn="just"/>
            <a:endParaRPr lang="fr-FR" sz="2000" b="1" dirty="0">
              <a:latin typeface="Garamond" panose="02020404030301010803" pitchFamily="18" charset="0"/>
            </a:endParaRPr>
          </a:p>
          <a:p>
            <a:pPr lvl="1" algn="just"/>
            <a:r>
              <a:rPr lang="fr-FR" sz="2000" dirty="0">
                <a:latin typeface="Garamond" panose="02020404030301010803" pitchFamily="18" charset="0"/>
              </a:rPr>
              <a:t>Au T2 2024, les premiers résultats ont fait observer que la vulnérabilité de l’emploi augmentait avec le niveau d’éducation. Ceci a été jugé incohérent. </a:t>
            </a: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Ces inconsistances ont permis de questionner le processus de calcul des indicateurs, notamment la méthodologie de pondération, ce qui a permis de corriger ces inconsistances.    </a:t>
            </a: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Par ailleurs, les taux de chômage obtenus qui sont dans l’ordre 5% ont aussi été jugé relativement élevé par rapport aux observés au cours des études antérieures.</a:t>
            </a:r>
          </a:p>
          <a:p>
            <a:pPr marL="800100" lvl="1" indent="-342900" algn="just">
              <a:buFont typeface="Arial" panose="020B0604020202020204" pitchFamily="34" charset="0"/>
              <a:buChar char="•"/>
            </a:pPr>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Un travail spécifique a été fait dans ce sens, dans le but de comprendre et d’expliqué cette évolution des indicateurs du taux de chomage. Dans la section suivante, nous présentons l’analyse produite à cet effet.</a:t>
            </a:r>
          </a:p>
        </p:txBody>
      </p:sp>
      <p:sp>
        <p:nvSpPr>
          <p:cNvPr id="4" name="Espace réservé du pied de page 1">
            <a:extLst>
              <a:ext uri="{FF2B5EF4-FFF2-40B4-BE49-F238E27FC236}">
                <a16:creationId xmlns:a16="http://schemas.microsoft.com/office/drawing/2014/main" id="{027885F7-592B-B87E-1CA1-EC418C5A103F}"/>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599105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B998-6FD7-F9B6-D819-39A267AC818B}"/>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0A9F184B-774A-B6FD-5AE2-91F9EBA5112A}"/>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2AF1D0FB-1711-29DB-C68F-1071EE2AC096}"/>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F1B0F85B-9E08-DD71-3548-2A0323AF53B3}"/>
              </a:ext>
            </a:extLst>
          </p:cNvPr>
          <p:cNvSpPr txBox="1"/>
          <p:nvPr/>
        </p:nvSpPr>
        <p:spPr>
          <a:xfrm>
            <a:off x="1509914" y="-28241"/>
            <a:ext cx="9278337" cy="1138773"/>
          </a:xfrm>
          <a:prstGeom prst="rect">
            <a:avLst/>
          </a:prstGeom>
          <a:noFill/>
        </p:spPr>
        <p:txBody>
          <a:bodyPr wrap="square">
            <a:spAutoFit/>
          </a:bodyPr>
          <a:lstStyle/>
          <a:p>
            <a:r>
              <a:rPr lang="en-US" sz="2400" b="1" dirty="0">
                <a:solidFill>
                  <a:schemeClr val="accent1"/>
                </a:solidFill>
                <a:latin typeface="Garamond" panose="02020404030301010803" pitchFamily="18" charset="0"/>
              </a:rPr>
              <a:t>5. </a:t>
            </a:r>
            <a:r>
              <a:rPr lang="fr-FR" sz="2400" b="1" dirty="0">
                <a:solidFill>
                  <a:schemeClr val="accent1"/>
                </a:solidFill>
                <a:latin typeface="Garamond" panose="02020404030301010803" pitchFamily="18" charset="0"/>
              </a:rPr>
              <a:t>Note explicative sur la hausse du chomage entre 2013 et 2024 </a:t>
            </a:r>
            <a:r>
              <a:rPr lang="en-US" sz="2400" b="1" dirty="0">
                <a:solidFill>
                  <a:schemeClr val="accent1"/>
                </a:solidFill>
                <a:latin typeface="Garamond" panose="02020404030301010803" pitchFamily="18" charset="0"/>
              </a:rPr>
              <a:t>(1/5)</a:t>
            </a:r>
            <a:endParaRPr lang="fr-FR" sz="2400" b="1" dirty="0">
              <a:solidFill>
                <a:schemeClr val="accent1"/>
              </a:solidFill>
              <a:latin typeface="Garamond" panose="02020404030301010803" pitchFamily="18" charset="0"/>
            </a:endParaRPr>
          </a:p>
          <a:p>
            <a:r>
              <a:rPr lang="en-US" sz="2000" i="1" dirty="0">
                <a:solidFill>
                  <a:schemeClr val="accent1"/>
                </a:solidFill>
                <a:latin typeface="Garamond" panose="02020404030301010803" pitchFamily="18" charset="0"/>
              </a:rPr>
              <a:t>Les </a:t>
            </a:r>
            <a:r>
              <a:rPr lang="en-US" sz="2000" i="1" dirty="0" err="1">
                <a:solidFill>
                  <a:schemeClr val="accent1"/>
                </a:solidFill>
                <a:latin typeface="Garamond" panose="02020404030301010803" pitchFamily="18" charset="0"/>
              </a:rPr>
              <a:t>pistes</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d’analyses</a:t>
            </a:r>
            <a:r>
              <a:rPr lang="en-US" sz="2000" i="1" dirty="0">
                <a:solidFill>
                  <a:schemeClr val="accent1"/>
                </a:solidFill>
                <a:latin typeface="Garamond" panose="02020404030301010803" pitchFamily="18" charset="0"/>
              </a:rPr>
              <a:t> : </a:t>
            </a:r>
            <a:endParaRPr lang="fr-FR" sz="2000" i="1" dirty="0">
              <a:solidFill>
                <a:schemeClr val="accent1"/>
              </a:solidFill>
              <a:latin typeface="Garamond" panose="02020404030301010803" pitchFamily="18" charset="0"/>
            </a:endParaRPr>
          </a:p>
          <a:p>
            <a:endParaRPr lang="fr-FR" sz="2400" b="1" dirty="0">
              <a:solidFill>
                <a:schemeClr val="accent1"/>
              </a:solidFill>
              <a:latin typeface="Garamond" panose="02020404030301010803" pitchFamily="18" charset="0"/>
            </a:endParaRPr>
          </a:p>
        </p:txBody>
      </p:sp>
      <p:sp>
        <p:nvSpPr>
          <p:cNvPr id="29" name="ZoneTexte 28">
            <a:extLst>
              <a:ext uri="{FF2B5EF4-FFF2-40B4-BE49-F238E27FC236}">
                <a16:creationId xmlns:a16="http://schemas.microsoft.com/office/drawing/2014/main" id="{C7F96E73-5761-909A-CF1C-C1A5EE43E64A}"/>
              </a:ext>
            </a:extLst>
          </p:cNvPr>
          <p:cNvSpPr txBox="1"/>
          <p:nvPr/>
        </p:nvSpPr>
        <p:spPr>
          <a:xfrm>
            <a:off x="215756" y="1134477"/>
            <a:ext cx="11640621" cy="4401205"/>
          </a:xfrm>
          <a:prstGeom prst="rect">
            <a:avLst/>
          </a:prstGeom>
          <a:noFill/>
        </p:spPr>
        <p:txBody>
          <a:bodyPr wrap="square">
            <a:spAutoFit/>
          </a:bodyPr>
          <a:lstStyle/>
          <a:p>
            <a:pPr lvl="1" algn="just"/>
            <a:r>
              <a:rPr lang="fr-FR" sz="2000" dirty="0">
                <a:latin typeface="Garamond" panose="02020404030301010803" pitchFamily="18" charset="0"/>
              </a:rPr>
              <a:t>En vue d’investiguer la hausse du taux de chômage comme suggéré par les données trimestrielles de l’ENEM en 2024, par rapport aux autres études sur l’emploi menées antérieurement (ENSESI 2016, ERI-ESI 2017, ENE 2019), nous avons tenter de répondre aux questions suivantes: </a:t>
            </a:r>
          </a:p>
          <a:p>
            <a:pPr lvl="1" algn="just"/>
            <a:endParaRPr lang="fr-FR" sz="2000" dirty="0">
              <a:latin typeface="Garamond" panose="02020404030301010803" pitchFamily="18" charset="0"/>
            </a:endParaRP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Quelle est la proportion de la population en âge de travailler qui fait partie de la main-d’œuvre (emploi + chômage) par rapport à celle hors main-d’œuvre ? Quelle influence sur le taux de chômage ?</a:t>
            </a:r>
          </a:p>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Quels groupes démographiques (âge, sexe, niveau d’instruction) sont les plus touchés par la hausse du chômage et des autres indicateurs de sous-utilisation de la main-d’œuvre ?</a:t>
            </a:r>
          </a:p>
          <a:p>
            <a:pPr marL="800100" lvl="1" indent="-342900" algn="just">
              <a:buFont typeface="Arial" panose="020B0604020202020204" pitchFamily="34" charset="0"/>
              <a:buChar char="•"/>
            </a:pPr>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Quelle proportion des chômeurs est constituée de primo-demandeurs d’emploi par rapport aux anciens travailleurs ? </a:t>
            </a:r>
          </a:p>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Existe-t-il des disparités (milieu de résidence, districts) dans l’évolution du taux de chômage et des autres indicateurs de SU ?</a:t>
            </a:r>
          </a:p>
        </p:txBody>
      </p:sp>
      <p:sp>
        <p:nvSpPr>
          <p:cNvPr id="4" name="Espace réservé du pied de page 1">
            <a:extLst>
              <a:ext uri="{FF2B5EF4-FFF2-40B4-BE49-F238E27FC236}">
                <a16:creationId xmlns:a16="http://schemas.microsoft.com/office/drawing/2014/main" id="{694D1AD5-5976-33DD-46EE-24279C33709D}"/>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3046000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59A5-F743-10CC-59E9-9A29D8A1270C}"/>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1E27396E-905A-1EBE-92FC-4513D628161F}"/>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E44C8A3D-76AF-13B2-FE47-B397D7649C98}"/>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345DB2D3-4082-60C5-6DF4-D0DC8E3507D3}"/>
              </a:ext>
            </a:extLst>
          </p:cNvPr>
          <p:cNvSpPr txBox="1"/>
          <p:nvPr/>
        </p:nvSpPr>
        <p:spPr>
          <a:xfrm>
            <a:off x="1509914" y="-28241"/>
            <a:ext cx="9278337" cy="1138773"/>
          </a:xfrm>
          <a:prstGeom prst="rect">
            <a:avLst/>
          </a:prstGeom>
          <a:noFill/>
        </p:spPr>
        <p:txBody>
          <a:bodyPr wrap="square">
            <a:spAutoFit/>
          </a:bodyPr>
          <a:lstStyle/>
          <a:p>
            <a:r>
              <a:rPr lang="en-US" sz="2400" b="1" dirty="0">
                <a:solidFill>
                  <a:schemeClr val="accent1"/>
                </a:solidFill>
                <a:latin typeface="Garamond" panose="02020404030301010803" pitchFamily="18" charset="0"/>
              </a:rPr>
              <a:t>5. </a:t>
            </a:r>
            <a:r>
              <a:rPr lang="fr-FR" sz="2400" b="1" dirty="0">
                <a:solidFill>
                  <a:schemeClr val="accent1"/>
                </a:solidFill>
                <a:latin typeface="Garamond" panose="02020404030301010803" pitchFamily="18" charset="0"/>
              </a:rPr>
              <a:t>Note explicative sur la hausse du chomage entre 2013 et 2024 </a:t>
            </a:r>
            <a:r>
              <a:rPr lang="en-US" sz="2400" b="1" dirty="0">
                <a:solidFill>
                  <a:schemeClr val="accent1"/>
                </a:solidFill>
                <a:latin typeface="Garamond" panose="02020404030301010803" pitchFamily="18" charset="0"/>
              </a:rPr>
              <a:t>(2/5)</a:t>
            </a:r>
            <a:endParaRPr lang="fr-FR" sz="2400" b="1" dirty="0">
              <a:solidFill>
                <a:schemeClr val="accent1"/>
              </a:solidFill>
              <a:latin typeface="Garamond" panose="02020404030301010803" pitchFamily="18" charset="0"/>
            </a:endParaRPr>
          </a:p>
          <a:p>
            <a:r>
              <a:rPr lang="en-US" sz="2000" i="1" dirty="0">
                <a:solidFill>
                  <a:schemeClr val="accent1"/>
                </a:solidFill>
                <a:latin typeface="Garamond" panose="02020404030301010803" pitchFamily="18" charset="0"/>
              </a:rPr>
              <a:t>Les </a:t>
            </a:r>
            <a:r>
              <a:rPr lang="en-US" sz="2000" i="1" dirty="0" err="1">
                <a:solidFill>
                  <a:schemeClr val="accent1"/>
                </a:solidFill>
                <a:latin typeface="Garamond" panose="02020404030301010803" pitchFamily="18" charset="0"/>
              </a:rPr>
              <a:t>pistes</a:t>
            </a:r>
            <a:r>
              <a:rPr lang="en-US" sz="2000" i="1" dirty="0">
                <a:solidFill>
                  <a:schemeClr val="accent1"/>
                </a:solidFill>
                <a:latin typeface="Garamond" panose="02020404030301010803" pitchFamily="18" charset="0"/>
              </a:rPr>
              <a:t> </a:t>
            </a:r>
            <a:r>
              <a:rPr lang="en-US" sz="2000" i="1" dirty="0" err="1">
                <a:solidFill>
                  <a:schemeClr val="accent1"/>
                </a:solidFill>
                <a:latin typeface="Garamond" panose="02020404030301010803" pitchFamily="18" charset="0"/>
              </a:rPr>
              <a:t>d’analyses</a:t>
            </a:r>
            <a:r>
              <a:rPr lang="en-US" sz="2000" i="1" dirty="0">
                <a:solidFill>
                  <a:schemeClr val="accent1"/>
                </a:solidFill>
                <a:latin typeface="Garamond" panose="02020404030301010803" pitchFamily="18" charset="0"/>
              </a:rPr>
              <a:t> : </a:t>
            </a:r>
            <a:endParaRPr lang="fr-FR" sz="2000" i="1" dirty="0">
              <a:solidFill>
                <a:schemeClr val="accent1"/>
              </a:solidFill>
              <a:latin typeface="Garamond" panose="02020404030301010803" pitchFamily="18" charset="0"/>
            </a:endParaRPr>
          </a:p>
          <a:p>
            <a:endParaRPr lang="fr-FR" sz="2400" b="1" dirty="0">
              <a:solidFill>
                <a:schemeClr val="accent1"/>
              </a:solidFill>
              <a:latin typeface="Garamond" panose="02020404030301010803" pitchFamily="18" charset="0"/>
            </a:endParaRPr>
          </a:p>
        </p:txBody>
      </p:sp>
      <p:sp>
        <p:nvSpPr>
          <p:cNvPr id="29" name="ZoneTexte 28">
            <a:extLst>
              <a:ext uri="{FF2B5EF4-FFF2-40B4-BE49-F238E27FC236}">
                <a16:creationId xmlns:a16="http://schemas.microsoft.com/office/drawing/2014/main" id="{B6D05DCC-5A44-0DCE-BC22-AF39C1D438C2}"/>
              </a:ext>
            </a:extLst>
          </p:cNvPr>
          <p:cNvSpPr txBox="1"/>
          <p:nvPr/>
        </p:nvSpPr>
        <p:spPr>
          <a:xfrm>
            <a:off x="275689" y="1463250"/>
            <a:ext cx="11640621" cy="4093428"/>
          </a:xfrm>
          <a:prstGeom prst="rect">
            <a:avLst/>
          </a:prstGeom>
          <a:noFill/>
        </p:spPr>
        <p:txBody>
          <a:bodyPr wrap="square">
            <a:spAutoFit/>
          </a:bodyPr>
          <a:lstStyle/>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Quelle part de la population en âge de travailler est constituée de main-d’œuvre potentielle et quel rôle joue cette catégorie dans les hausses observées ?</a:t>
            </a:r>
          </a:p>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Existe-t-il une corrélation entre le retrait de certains groupes (ex. femmes, jeunes, seniors) de la main-d’œuvre et l’augmentation du chômage ?</a:t>
            </a:r>
          </a:p>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Dans quelle mesure les transitions entre les statuts de emploi, chômage, main-d’œuvre potentielle et autres populations hors main-d’œuvre contribuent-elles à l’évolution du chômage ? </a:t>
            </a:r>
          </a:p>
          <a:p>
            <a:pPr marL="800100" lvl="1" indent="-342900" algn="just">
              <a:buFont typeface="Arial" panose="020B0604020202020204" pitchFamily="34" charset="0"/>
              <a:buChar char="•"/>
            </a:pPr>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i="1" dirty="0">
                <a:latin typeface="Garamond" panose="02020404030301010803" pitchFamily="18" charset="0"/>
              </a:rPr>
              <a:t>Quelle est la répartition du chômage entre les personnes en situation de chômage de courte durée (moins de 12 mois) et de longue durée (12 mois et plus) ?</a:t>
            </a:r>
          </a:p>
          <a:p>
            <a:pPr lvl="1" algn="just"/>
            <a:endParaRPr lang="fr-FR" sz="2000" i="1" dirty="0">
              <a:latin typeface="Garamond" panose="02020404030301010803" pitchFamily="18" charset="0"/>
            </a:endParaRPr>
          </a:p>
        </p:txBody>
      </p:sp>
      <p:sp>
        <p:nvSpPr>
          <p:cNvPr id="4" name="Espace réservé du pied de page 1">
            <a:extLst>
              <a:ext uri="{FF2B5EF4-FFF2-40B4-BE49-F238E27FC236}">
                <a16:creationId xmlns:a16="http://schemas.microsoft.com/office/drawing/2014/main" id="{AC07554A-27E6-4A97-44DC-109ED69B2141}"/>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1398694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B7358-E31B-99E7-A325-D872B3414669}"/>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47486E48-FC2A-1DE5-0F3E-06A9D5A84F02}"/>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3C81727C-4E73-597C-FACA-954D305FDB42}"/>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B7415FF5-8237-AD23-4DFC-A22644095EEB}"/>
              </a:ext>
            </a:extLst>
          </p:cNvPr>
          <p:cNvSpPr txBox="1"/>
          <p:nvPr/>
        </p:nvSpPr>
        <p:spPr>
          <a:xfrm>
            <a:off x="1509914" y="-28241"/>
            <a:ext cx="9278337" cy="1138773"/>
          </a:xfrm>
          <a:prstGeom prst="rect">
            <a:avLst/>
          </a:prstGeom>
          <a:noFill/>
        </p:spPr>
        <p:txBody>
          <a:bodyPr wrap="square">
            <a:spAutoFit/>
          </a:bodyPr>
          <a:lstStyle/>
          <a:p>
            <a:r>
              <a:rPr lang="en-US" sz="2400" b="1" dirty="0">
                <a:solidFill>
                  <a:schemeClr val="accent1"/>
                </a:solidFill>
                <a:latin typeface="Garamond" panose="02020404030301010803" pitchFamily="18" charset="0"/>
              </a:rPr>
              <a:t>5. </a:t>
            </a:r>
            <a:r>
              <a:rPr lang="fr-FR" sz="2400" b="1" dirty="0">
                <a:solidFill>
                  <a:schemeClr val="accent1"/>
                </a:solidFill>
                <a:latin typeface="Garamond" panose="02020404030301010803" pitchFamily="18" charset="0"/>
              </a:rPr>
              <a:t>Note explicative sur la hausse du chomage entre 2013 et 2024 </a:t>
            </a:r>
            <a:r>
              <a:rPr lang="en-US" sz="2400" b="1" dirty="0">
                <a:solidFill>
                  <a:schemeClr val="accent1"/>
                </a:solidFill>
                <a:latin typeface="Garamond" panose="02020404030301010803" pitchFamily="18" charset="0"/>
              </a:rPr>
              <a:t>(3/5)</a:t>
            </a:r>
            <a:endParaRPr lang="fr-FR" sz="2400" b="1" dirty="0">
              <a:solidFill>
                <a:schemeClr val="accent1"/>
              </a:solidFill>
              <a:latin typeface="Garamond" panose="02020404030301010803" pitchFamily="18" charset="0"/>
            </a:endParaRPr>
          </a:p>
          <a:p>
            <a:r>
              <a:rPr lang="en-US" sz="2000" i="1" dirty="0">
                <a:solidFill>
                  <a:schemeClr val="accent1"/>
                </a:solidFill>
                <a:latin typeface="Garamond" panose="02020404030301010803" pitchFamily="18" charset="0"/>
              </a:rPr>
              <a:t>Les points </a:t>
            </a:r>
            <a:r>
              <a:rPr lang="en-US" sz="2000" i="1" dirty="0" err="1">
                <a:solidFill>
                  <a:schemeClr val="accent1"/>
                </a:solidFill>
                <a:latin typeface="Garamond" panose="02020404030301010803" pitchFamily="18" charset="0"/>
              </a:rPr>
              <a:t>clés</a:t>
            </a:r>
            <a:r>
              <a:rPr lang="en-US" sz="2000" i="1" dirty="0">
                <a:solidFill>
                  <a:schemeClr val="accent1"/>
                </a:solidFill>
                <a:latin typeface="Garamond" panose="02020404030301010803" pitchFamily="18" charset="0"/>
              </a:rPr>
              <a:t> de la note : </a:t>
            </a:r>
            <a:endParaRPr lang="fr-FR" sz="2000" i="1" dirty="0">
              <a:solidFill>
                <a:schemeClr val="accent1"/>
              </a:solidFill>
              <a:latin typeface="Garamond" panose="02020404030301010803" pitchFamily="18" charset="0"/>
            </a:endParaRPr>
          </a:p>
          <a:p>
            <a:endParaRPr lang="fr-FR" sz="2400" b="1" dirty="0">
              <a:solidFill>
                <a:schemeClr val="accent1"/>
              </a:solidFill>
              <a:latin typeface="Garamond" panose="02020404030301010803" pitchFamily="18" charset="0"/>
            </a:endParaRPr>
          </a:p>
        </p:txBody>
      </p:sp>
      <p:sp>
        <p:nvSpPr>
          <p:cNvPr id="29" name="ZoneTexte 28">
            <a:extLst>
              <a:ext uri="{FF2B5EF4-FFF2-40B4-BE49-F238E27FC236}">
                <a16:creationId xmlns:a16="http://schemas.microsoft.com/office/drawing/2014/main" id="{0911D248-52D4-234C-82FD-DCDFA708ED39}"/>
              </a:ext>
            </a:extLst>
          </p:cNvPr>
          <p:cNvSpPr txBox="1"/>
          <p:nvPr/>
        </p:nvSpPr>
        <p:spPr>
          <a:xfrm>
            <a:off x="275689" y="1463250"/>
            <a:ext cx="11640621" cy="4401205"/>
          </a:xfrm>
          <a:prstGeom prst="rect">
            <a:avLst/>
          </a:prstGeom>
          <a:noFill/>
        </p:spPr>
        <p:txBody>
          <a:bodyPr wrap="square">
            <a:spAutoFit/>
          </a:bodyPr>
          <a:lstStyle/>
          <a:p>
            <a:pPr lvl="1" algn="just"/>
            <a:r>
              <a:rPr lang="fr-FR" sz="2000" dirty="0">
                <a:latin typeface="Garamond" panose="02020404030301010803" pitchFamily="18" charset="0"/>
              </a:rPr>
              <a:t>De façon importante, il ressort les points suivants :</a:t>
            </a:r>
          </a:p>
          <a:p>
            <a:pPr lvl="1" algn="just"/>
            <a:endParaRPr lang="fr-FR" sz="2000" dirty="0">
              <a:latin typeface="Garamond" panose="02020404030301010803" pitchFamily="18" charset="0"/>
            </a:endParaRPr>
          </a:p>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Suivant les données de l’ENEM 2024, une proportion plus grande de la population en âge de travailler participe à la main d’œuvre par rapport aux études antérieures, impliquant de facto une pression plus grande sur le marché de l’emploi par rapport aux années précédentes. Nous estimons que si l’offre d’emploi n’est pas en phase avec cette demande grandissante d’emploi, le taux de chômage pourrait augmenter.</a:t>
            </a:r>
          </a:p>
          <a:p>
            <a:pPr lvl="1" algn="just"/>
            <a:endParaRPr lang="fr-FR" sz="2000" dirty="0">
              <a:latin typeface="Garamond" panose="02020404030301010803" pitchFamily="18" charset="0"/>
            </a:endParaRP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L’augmentation du taux de participation à la main d’œuvre a été plus prononcé chez les femmes. Au T3 2024, le taux de participation à la main d’œuvre, par rapport à l’ENE 2019 a augmenté de 16,1% chez les femmes contre 10,2% chez les hommes. Cette hausse beaucoup plus prononcée du taux de participation chez les femmes traduirait une demande d’emploi beaucoup plus fortes chez les femmes relativement aux années antérieures. </a:t>
            </a:r>
            <a:endParaRPr lang="fr-FR" sz="2000" i="1" dirty="0">
              <a:latin typeface="Garamond" panose="02020404030301010803" pitchFamily="18" charset="0"/>
            </a:endParaRPr>
          </a:p>
        </p:txBody>
      </p:sp>
      <p:sp>
        <p:nvSpPr>
          <p:cNvPr id="4" name="Espace réservé du pied de page 1">
            <a:extLst>
              <a:ext uri="{FF2B5EF4-FFF2-40B4-BE49-F238E27FC236}">
                <a16:creationId xmlns:a16="http://schemas.microsoft.com/office/drawing/2014/main" id="{223AA2A6-1156-3210-1182-318418116898}"/>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408901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81FA0-8F47-5A02-6976-8F99F4DCA626}"/>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520F4481-C472-359B-50BE-1ECC7EAAA64C}"/>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73DB7F93-CA84-39E1-EE89-01A0DAD67BF9}"/>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9632F4FA-8756-983F-7690-154BDE7480C2}"/>
              </a:ext>
            </a:extLst>
          </p:cNvPr>
          <p:cNvSpPr txBox="1"/>
          <p:nvPr/>
        </p:nvSpPr>
        <p:spPr>
          <a:xfrm>
            <a:off x="1509914" y="-28241"/>
            <a:ext cx="9278337" cy="1138773"/>
          </a:xfrm>
          <a:prstGeom prst="rect">
            <a:avLst/>
          </a:prstGeom>
          <a:noFill/>
        </p:spPr>
        <p:txBody>
          <a:bodyPr wrap="square">
            <a:spAutoFit/>
          </a:bodyPr>
          <a:lstStyle/>
          <a:p>
            <a:r>
              <a:rPr lang="en-US" sz="2400" b="1" dirty="0">
                <a:solidFill>
                  <a:schemeClr val="accent1"/>
                </a:solidFill>
                <a:latin typeface="Garamond" panose="02020404030301010803" pitchFamily="18" charset="0"/>
              </a:rPr>
              <a:t>5. </a:t>
            </a:r>
            <a:r>
              <a:rPr lang="fr-FR" sz="2400" b="1" dirty="0">
                <a:solidFill>
                  <a:schemeClr val="accent1"/>
                </a:solidFill>
                <a:latin typeface="Garamond" panose="02020404030301010803" pitchFamily="18" charset="0"/>
              </a:rPr>
              <a:t>Note explicative sur la hausse du chomage entre 2013 et 2024 </a:t>
            </a:r>
            <a:r>
              <a:rPr lang="en-US" sz="2400" b="1" dirty="0">
                <a:solidFill>
                  <a:schemeClr val="accent1"/>
                </a:solidFill>
                <a:latin typeface="Garamond" panose="02020404030301010803" pitchFamily="18" charset="0"/>
              </a:rPr>
              <a:t>(4/5)</a:t>
            </a:r>
            <a:endParaRPr lang="fr-FR" sz="2400" b="1" dirty="0">
              <a:solidFill>
                <a:schemeClr val="accent1"/>
              </a:solidFill>
              <a:latin typeface="Garamond" panose="02020404030301010803" pitchFamily="18" charset="0"/>
            </a:endParaRPr>
          </a:p>
          <a:p>
            <a:r>
              <a:rPr lang="en-US" sz="2000" i="1" dirty="0">
                <a:solidFill>
                  <a:schemeClr val="accent1"/>
                </a:solidFill>
                <a:latin typeface="Garamond" panose="02020404030301010803" pitchFamily="18" charset="0"/>
              </a:rPr>
              <a:t>Les points </a:t>
            </a:r>
            <a:r>
              <a:rPr lang="en-US" sz="2000" i="1" dirty="0" err="1">
                <a:solidFill>
                  <a:schemeClr val="accent1"/>
                </a:solidFill>
                <a:latin typeface="Garamond" panose="02020404030301010803" pitchFamily="18" charset="0"/>
              </a:rPr>
              <a:t>clés</a:t>
            </a:r>
            <a:r>
              <a:rPr lang="en-US" sz="2000" i="1" dirty="0">
                <a:solidFill>
                  <a:schemeClr val="accent1"/>
                </a:solidFill>
                <a:latin typeface="Garamond" panose="02020404030301010803" pitchFamily="18" charset="0"/>
              </a:rPr>
              <a:t> de la note : </a:t>
            </a:r>
            <a:endParaRPr lang="fr-FR" sz="2000" i="1" dirty="0">
              <a:solidFill>
                <a:schemeClr val="accent1"/>
              </a:solidFill>
              <a:latin typeface="Garamond" panose="02020404030301010803" pitchFamily="18" charset="0"/>
            </a:endParaRPr>
          </a:p>
          <a:p>
            <a:endParaRPr lang="fr-FR" sz="2400" b="1" dirty="0">
              <a:solidFill>
                <a:schemeClr val="accent1"/>
              </a:solidFill>
              <a:latin typeface="Garamond" panose="02020404030301010803" pitchFamily="18" charset="0"/>
            </a:endParaRPr>
          </a:p>
        </p:txBody>
      </p:sp>
      <p:sp>
        <p:nvSpPr>
          <p:cNvPr id="29" name="ZoneTexte 28">
            <a:extLst>
              <a:ext uri="{FF2B5EF4-FFF2-40B4-BE49-F238E27FC236}">
                <a16:creationId xmlns:a16="http://schemas.microsoft.com/office/drawing/2014/main" id="{5BF036E8-AC97-D626-71BB-D6250419E41B}"/>
              </a:ext>
            </a:extLst>
          </p:cNvPr>
          <p:cNvSpPr txBox="1"/>
          <p:nvPr/>
        </p:nvSpPr>
        <p:spPr>
          <a:xfrm>
            <a:off x="328771" y="819869"/>
            <a:ext cx="11640621" cy="5632311"/>
          </a:xfrm>
          <a:prstGeom prst="rect">
            <a:avLst/>
          </a:prstGeom>
          <a:noFill/>
        </p:spPr>
        <p:txBody>
          <a:bodyPr wrap="square">
            <a:spAutoFit/>
          </a:bodyPr>
          <a:lstStyle/>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Conformément aux faits stylisés sur les statistiques de l’emploi en Cote d’Ivoire, le taux de chômage des femmes est plus élevé que celui des hommes au T3 2024 : 6.92% contre 3,43%. Ces taux sont plus élevés que leurs valeurs respectives, observées lors des études antérieures. Plus particulièrement, le taux de  chômage des femmes s'écarte fortement de sa tendance habituelle. </a:t>
            </a:r>
          </a:p>
          <a:p>
            <a:pPr lvl="1" algn="just"/>
            <a:endParaRPr lang="fr-FR" sz="2000" dirty="0">
              <a:latin typeface="Garamond" panose="02020404030301010803" pitchFamily="18" charset="0"/>
            </a:endParaRP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En effet, dans la population en âge de travailler, l’on observe chez les hommes, 3 chômeurs pour 100 personnes en emploi au T3 2024, en phase avec la tendance observée au cours des trois dernières études sur l’emploi (ENSESI 2016, ERI-ESI 2017, ENE 2019) ; alors qu’il y aurait désormais 8 chômeurs pour 100 personnes en emploi chez les femmes, fortement en déphasage avec sa tendance habituelle qui est de 4 chômeurs pour 100 personnes en emploi sur les trois dernières études (ENSESI 2016, ERI-ESI 2017, ENE 2019)</a:t>
            </a:r>
          </a:p>
          <a:p>
            <a:pPr marL="800100" lvl="1" indent="-342900" algn="just">
              <a:buFont typeface="Arial" panose="020B0604020202020204" pitchFamily="34" charset="0"/>
              <a:buChar char="•"/>
            </a:pPr>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Il semblerait donc que cette forte croissance du taux de participation au marché du travail est particulièrement en grand déphasage avec l’offre d’emploi chez les femmes, et que l'écart observé entre le taux de chômage du T3 2024 et les taux de chômage des études antérieures serait dû au taux de chômage observé chez les femmes.</a:t>
            </a:r>
          </a:p>
        </p:txBody>
      </p:sp>
      <p:sp>
        <p:nvSpPr>
          <p:cNvPr id="4" name="Espace réservé du pied de page 1">
            <a:extLst>
              <a:ext uri="{FF2B5EF4-FFF2-40B4-BE49-F238E27FC236}">
                <a16:creationId xmlns:a16="http://schemas.microsoft.com/office/drawing/2014/main" id="{C180813F-1627-1531-56F3-5E9620C15764}"/>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2083092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EAFA-079E-2E7E-4C55-0FF265D31F90}"/>
            </a:ext>
          </a:extLst>
        </p:cNvPr>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3E962C12-7FCD-423E-39CE-A13C4FAE3EA5}"/>
              </a:ext>
            </a:extLst>
          </p:cNvPr>
          <p:cNvSpPr>
            <a:spLocks noGrp="1"/>
          </p:cNvSpPr>
          <p:nvPr>
            <p:ph type="dt" sz="half" idx="10"/>
          </p:nvPr>
        </p:nvSpPr>
        <p:spPr/>
        <p:txBody>
          <a:bodyPr/>
          <a:lstStyle/>
          <a:p>
            <a:fld id="{A5E0522D-59D4-4D8E-9BE1-A64CFB354D16}" type="datetime1">
              <a:rPr lang="fr-FR" smtClean="0">
                <a:latin typeface="Garamond" panose="02020404030301010803" pitchFamily="18" charset="0"/>
              </a:rPr>
              <a:t>13/01/2025</a:t>
            </a:fld>
            <a:endParaRPr lang="fr-FR">
              <a:latin typeface="Garamond" panose="02020404030301010803" pitchFamily="18" charset="0"/>
            </a:endParaRPr>
          </a:p>
        </p:txBody>
      </p:sp>
      <p:cxnSp>
        <p:nvCxnSpPr>
          <p:cNvPr id="3" name="Connecteur droit 2">
            <a:extLst>
              <a:ext uri="{FF2B5EF4-FFF2-40B4-BE49-F238E27FC236}">
                <a16:creationId xmlns:a16="http://schemas.microsoft.com/office/drawing/2014/main" id="{09D4E081-E960-EF9F-AD42-E5A42AAEB04B}"/>
              </a:ext>
            </a:extLst>
          </p:cNvPr>
          <p:cNvCxnSpPr/>
          <p:nvPr/>
        </p:nvCxnSpPr>
        <p:spPr>
          <a:xfrm>
            <a:off x="0" y="96520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5CC0A03C-8EA2-E6BE-E1CD-58F9C42D8C58}"/>
              </a:ext>
            </a:extLst>
          </p:cNvPr>
          <p:cNvSpPr txBox="1"/>
          <p:nvPr/>
        </p:nvSpPr>
        <p:spPr>
          <a:xfrm>
            <a:off x="1509914" y="-28241"/>
            <a:ext cx="9278337" cy="1138773"/>
          </a:xfrm>
          <a:prstGeom prst="rect">
            <a:avLst/>
          </a:prstGeom>
          <a:noFill/>
        </p:spPr>
        <p:txBody>
          <a:bodyPr wrap="square">
            <a:spAutoFit/>
          </a:bodyPr>
          <a:lstStyle/>
          <a:p>
            <a:r>
              <a:rPr lang="en-US" sz="2400" b="1" dirty="0">
                <a:solidFill>
                  <a:schemeClr val="accent1"/>
                </a:solidFill>
                <a:latin typeface="Garamond" panose="02020404030301010803" pitchFamily="18" charset="0"/>
              </a:rPr>
              <a:t>5. </a:t>
            </a:r>
            <a:r>
              <a:rPr lang="fr-FR" sz="2400" b="1" dirty="0">
                <a:solidFill>
                  <a:schemeClr val="accent1"/>
                </a:solidFill>
                <a:latin typeface="Garamond" panose="02020404030301010803" pitchFamily="18" charset="0"/>
              </a:rPr>
              <a:t>Note explicative sur la hausse du chomage entre 2013 et 2024 </a:t>
            </a:r>
            <a:r>
              <a:rPr lang="en-US" sz="2400" b="1" dirty="0">
                <a:solidFill>
                  <a:schemeClr val="accent1"/>
                </a:solidFill>
                <a:latin typeface="Garamond" panose="02020404030301010803" pitchFamily="18" charset="0"/>
              </a:rPr>
              <a:t>(5/5)</a:t>
            </a:r>
            <a:endParaRPr lang="fr-FR" sz="2400" b="1" dirty="0">
              <a:solidFill>
                <a:schemeClr val="accent1"/>
              </a:solidFill>
              <a:latin typeface="Garamond" panose="02020404030301010803" pitchFamily="18" charset="0"/>
            </a:endParaRPr>
          </a:p>
          <a:p>
            <a:r>
              <a:rPr lang="en-US" sz="2000" i="1" dirty="0">
                <a:solidFill>
                  <a:schemeClr val="accent1"/>
                </a:solidFill>
                <a:latin typeface="Garamond" panose="02020404030301010803" pitchFamily="18" charset="0"/>
              </a:rPr>
              <a:t>Les points </a:t>
            </a:r>
            <a:r>
              <a:rPr lang="en-US" sz="2000" i="1" dirty="0" err="1">
                <a:solidFill>
                  <a:schemeClr val="accent1"/>
                </a:solidFill>
                <a:latin typeface="Garamond" panose="02020404030301010803" pitchFamily="18" charset="0"/>
              </a:rPr>
              <a:t>clés</a:t>
            </a:r>
            <a:r>
              <a:rPr lang="en-US" sz="2000" i="1" dirty="0">
                <a:solidFill>
                  <a:schemeClr val="accent1"/>
                </a:solidFill>
                <a:latin typeface="Garamond" panose="02020404030301010803" pitchFamily="18" charset="0"/>
              </a:rPr>
              <a:t> de la note : </a:t>
            </a:r>
            <a:endParaRPr lang="fr-FR" sz="2000" i="1" dirty="0">
              <a:solidFill>
                <a:schemeClr val="accent1"/>
              </a:solidFill>
              <a:latin typeface="Garamond" panose="02020404030301010803" pitchFamily="18" charset="0"/>
            </a:endParaRPr>
          </a:p>
          <a:p>
            <a:endParaRPr lang="fr-FR" sz="2400" b="1" dirty="0">
              <a:solidFill>
                <a:schemeClr val="accent1"/>
              </a:solidFill>
              <a:latin typeface="Garamond" panose="02020404030301010803" pitchFamily="18" charset="0"/>
            </a:endParaRPr>
          </a:p>
        </p:txBody>
      </p:sp>
      <p:sp>
        <p:nvSpPr>
          <p:cNvPr id="29" name="ZoneTexte 28">
            <a:extLst>
              <a:ext uri="{FF2B5EF4-FFF2-40B4-BE49-F238E27FC236}">
                <a16:creationId xmlns:a16="http://schemas.microsoft.com/office/drawing/2014/main" id="{CA2900E4-ABB9-CEA1-A48C-0A8DD7E0F39C}"/>
              </a:ext>
            </a:extLst>
          </p:cNvPr>
          <p:cNvSpPr txBox="1"/>
          <p:nvPr/>
        </p:nvSpPr>
        <p:spPr>
          <a:xfrm>
            <a:off x="275689" y="1612472"/>
            <a:ext cx="11640621" cy="3170099"/>
          </a:xfrm>
          <a:prstGeom prst="rect">
            <a:avLst/>
          </a:prstGeom>
          <a:noFill/>
        </p:spPr>
        <p:txBody>
          <a:bodyPr wrap="square">
            <a:spAutoFit/>
          </a:bodyPr>
          <a:lstStyle/>
          <a:p>
            <a:pPr lvl="1" algn="just"/>
            <a:endParaRPr lang="fr-FR" sz="2000" i="1"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La part de la main d’œuvre potentielle dans la population hors main d’œuvre s’est accrue avec le temps : 31,4 % de la population hors main d’œuvre est une main d’œuvre potentielle au T3 2024 contre 19,5 % en 2019.  </a:t>
            </a:r>
          </a:p>
          <a:p>
            <a:pPr lvl="1" algn="just"/>
            <a:endParaRPr lang="fr-FR" sz="2000" dirty="0">
              <a:latin typeface="Garamond" panose="02020404030301010803" pitchFamily="18" charset="0"/>
            </a:endParaRPr>
          </a:p>
          <a:p>
            <a:pPr lvl="1" algn="just"/>
            <a:endParaRPr lang="fr-FR" sz="2000" dirty="0">
              <a:latin typeface="Garamond" panose="02020404030301010803" pitchFamily="18" charset="0"/>
            </a:endParaRPr>
          </a:p>
          <a:p>
            <a:pPr marL="800100" lvl="1" indent="-342900" algn="just">
              <a:buFont typeface="Arial" panose="020B0604020202020204" pitchFamily="34" charset="0"/>
              <a:buChar char="•"/>
            </a:pPr>
            <a:r>
              <a:rPr lang="fr-FR" sz="2000" dirty="0">
                <a:latin typeface="Garamond" panose="02020404030301010803" pitchFamily="18" charset="0"/>
              </a:rPr>
              <a:t>Le taux de chômage chez les femmes, âgées de 16 à 35 ans connaitrait particulièrement une hausse, en déphasage avec sa tendance habituellement observée sur les études antérieures. Ceci serait à l’origine de la hausse du taux de chômage (générale) chez les femmes, et en conséquence, du taux de chômage générale, comme présenté plus haut.</a:t>
            </a:r>
            <a:endParaRPr lang="fr-FR" sz="2000" i="1" dirty="0">
              <a:latin typeface="Garamond" panose="02020404030301010803" pitchFamily="18" charset="0"/>
            </a:endParaRPr>
          </a:p>
        </p:txBody>
      </p:sp>
      <p:sp>
        <p:nvSpPr>
          <p:cNvPr id="4" name="Espace réservé du pied de page 1">
            <a:extLst>
              <a:ext uri="{FF2B5EF4-FFF2-40B4-BE49-F238E27FC236}">
                <a16:creationId xmlns:a16="http://schemas.microsoft.com/office/drawing/2014/main" id="{F7276A4E-5A43-9EED-422E-CA12A425362A}"/>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822939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DB22CA3F-F7E1-46B3-AA70-5DB9B52859CA}"/>
              </a:ext>
            </a:extLst>
          </p:cNvPr>
          <p:cNvSpPr>
            <a:spLocks noGrp="1"/>
          </p:cNvSpPr>
          <p:nvPr>
            <p:ph type="dt" sz="half" idx="10"/>
          </p:nvPr>
        </p:nvSpPr>
        <p:spPr/>
        <p:txBody>
          <a:bodyPr/>
          <a:lstStyle/>
          <a:p>
            <a:fld id="{A9C7545C-E591-4022-BB1F-B0E67B093476}" type="datetime1">
              <a:rPr lang="fr-FR" smtClean="0">
                <a:latin typeface="Garamond" panose="02020404030301010803" pitchFamily="18" charset="0"/>
              </a:rPr>
              <a:t>13/01/2025</a:t>
            </a:fld>
            <a:endParaRPr lang="fr-FR">
              <a:latin typeface="Garamond" panose="02020404030301010803" pitchFamily="18" charset="0"/>
            </a:endParaRPr>
          </a:p>
        </p:txBody>
      </p:sp>
      <p:sp>
        <p:nvSpPr>
          <p:cNvPr id="4" name="ZoneTexte 3">
            <a:extLst>
              <a:ext uri="{FF2B5EF4-FFF2-40B4-BE49-F238E27FC236}">
                <a16:creationId xmlns:a16="http://schemas.microsoft.com/office/drawing/2014/main" id="{B687F6EC-7F4E-E060-1E68-BA64B13BC3DA}"/>
              </a:ext>
            </a:extLst>
          </p:cNvPr>
          <p:cNvSpPr txBox="1"/>
          <p:nvPr/>
        </p:nvSpPr>
        <p:spPr>
          <a:xfrm>
            <a:off x="1753456" y="2659559"/>
            <a:ext cx="10438544" cy="769441"/>
          </a:xfrm>
          <a:prstGeom prst="rect">
            <a:avLst/>
          </a:prstGeom>
          <a:noFill/>
        </p:spPr>
        <p:txBody>
          <a:bodyPr wrap="square" rtlCol="0">
            <a:spAutoFit/>
          </a:bodyPr>
          <a:lstStyle/>
          <a:p>
            <a:r>
              <a:rPr lang="fr-FR" sz="4400" dirty="0">
                <a:latin typeface="Garamond" panose="02020404030301010803" pitchFamily="18" charset="0"/>
              </a:rPr>
              <a:t>MERCI DE VOTRE ATTENTION</a:t>
            </a:r>
          </a:p>
        </p:txBody>
      </p:sp>
      <p:sp>
        <p:nvSpPr>
          <p:cNvPr id="7" name="Espace réservé du pied de page 1">
            <a:extLst>
              <a:ext uri="{FF2B5EF4-FFF2-40B4-BE49-F238E27FC236}">
                <a16:creationId xmlns:a16="http://schemas.microsoft.com/office/drawing/2014/main" id="{A52C62E5-1528-21AD-40DD-9EB7AB357941}"/>
              </a:ext>
            </a:extLst>
          </p:cNvPr>
          <p:cNvSpPr>
            <a:spLocks noGrp="1"/>
          </p:cNvSpPr>
          <p:nvPr>
            <p:ph type="ftr" sz="quarter" idx="11"/>
          </p:nvPr>
        </p:nvSpPr>
        <p:spPr>
          <a:xfrm>
            <a:off x="4038600" y="6356350"/>
            <a:ext cx="4114800" cy="365125"/>
          </a:xfrm>
        </p:spPr>
        <p:txBody>
          <a:bodyPr/>
          <a:lstStyle/>
          <a:p>
            <a:r>
              <a:rPr lang="fr-FR" dirty="0"/>
              <a:t>Agence National de la Statistique (</a:t>
            </a:r>
            <a:r>
              <a:rPr lang="fr-FR" dirty="0" err="1"/>
              <a:t>ANStat</a:t>
            </a:r>
            <a:r>
              <a:rPr lang="fr-FR" dirty="0"/>
              <a:t>)</a:t>
            </a:r>
          </a:p>
        </p:txBody>
      </p:sp>
    </p:spTree>
    <p:extLst>
      <p:ext uri="{BB962C8B-B14F-4D97-AF65-F5344CB8AC3E}">
        <p14:creationId xmlns:p14="http://schemas.microsoft.com/office/powerpoint/2010/main" val="2127187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RHclvWiJyUmebz7irU3mlg"/>
  <p:tag name="BCGMACROSCOPYRIGHTREPRESENTATIVE" val="BCGMacrosCopyrightRepresentativ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qvEGksz.vEmxHeRh91uGO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qvEGksz.vEmxHeRh91uGO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JZSIWM.jN02EbBD6RQ6L2w"/>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Standard colors 1">
      <a:dk1>
        <a:srgbClr val="000000"/>
      </a:dk1>
      <a:lt1>
        <a:srgbClr val="FFFFFF"/>
      </a:lt1>
      <a:dk2>
        <a:srgbClr val="177B57"/>
      </a:dk2>
      <a:lt2>
        <a:srgbClr val="808080"/>
      </a:lt2>
      <a:accent1>
        <a:srgbClr val="E2E2E2"/>
      </a:accent1>
      <a:accent2>
        <a:srgbClr val="BCDEC2"/>
      </a:accent2>
      <a:accent3>
        <a:srgbClr val="B2B2B2"/>
      </a:accent3>
      <a:accent4>
        <a:srgbClr val="4D4D4D"/>
      </a:accent4>
      <a:accent5>
        <a:srgbClr val="D2E0E6"/>
      </a:accent5>
      <a:accent6>
        <a:srgbClr val="79A2B3"/>
      </a:accent6>
      <a:hlink>
        <a:srgbClr val="5BAD82"/>
      </a:hlink>
      <a:folHlink>
        <a:srgbClr val="8EC6A1"/>
      </a:folHlink>
    </a:clrScheme>
    <a:fontScheme name="Standard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bg2"/>
          </a:solidFill>
        </a:ln>
        <a:effectLst/>
      </a:spPr>
      <a:bodyPr tIns="90000" bIns="90000" rtlCol="0" anchor="ctr" anchorCtr="0"/>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tIns="90000" bIns="90000" rtlCol="0" anchor="t">
        <a:spAutoFit/>
      </a:bodyPr>
      <a:lstStyle>
        <a:defPPr algn="ctr">
          <a:defRPr sz="1400" dirty="0" smtClean="0"/>
        </a:defPPr>
      </a:lstStyle>
    </a:tx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9ab516d-d64c-41db-aec1-c71c578a1a95">
      <Terms xmlns="http://schemas.microsoft.com/office/infopath/2007/PartnerControls"/>
    </lcf76f155ced4ddcb4097134ff3c332f>
    <TaxCatchAll xmlns="4be680dd-c972-4d2a-9afb-19335114998a"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FF2C60DC44266419459CA0205D00625" ma:contentTypeVersion="20" ma:contentTypeDescription="Crée un document." ma:contentTypeScope="" ma:versionID="a350f0ae4e937dac59726920fdf562a4">
  <xsd:schema xmlns:xsd="http://www.w3.org/2001/XMLSchema" xmlns:xs="http://www.w3.org/2001/XMLSchema" xmlns:p="http://schemas.microsoft.com/office/2006/metadata/properties" xmlns:ns1="http://schemas.microsoft.com/sharepoint/v3" xmlns:ns2="d9ab516d-d64c-41db-aec1-c71c578a1a95" xmlns:ns3="4be680dd-c972-4d2a-9afb-19335114998a" targetNamespace="http://schemas.microsoft.com/office/2006/metadata/properties" ma:root="true" ma:fieldsID="fea27971fc465e8ad3313d426c9b1891" ns1:_="" ns2:_="" ns3:_="">
    <xsd:import namespace="http://schemas.microsoft.com/sharepoint/v3"/>
    <xsd:import namespace="d9ab516d-d64c-41db-aec1-c71c578a1a95"/>
    <xsd:import namespace="4be680dd-c972-4d2a-9afb-19335114998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Propriétés de la stratégie de conformité unifiée" ma:hidden="true" ma:internalName="_ip_UnifiedCompliancePolicyProperties">
      <xsd:simpleType>
        <xsd:restriction base="dms:Note"/>
      </xsd:simpleType>
    </xsd:element>
    <xsd:element name="_ip_UnifiedCompliancePolicyUIAction" ma:index="25"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9ab516d-d64c-41db-aec1-c71c578a1a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Balises d’images" ma:readOnly="false" ma:fieldId="{5cf76f15-5ced-4ddc-b409-7134ff3c332f}" ma:taxonomyMulti="true" ma:sspId="256e35f7-71ac-48cb-9e01-1a8c39f69d69"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e680dd-c972-4d2a-9afb-19335114998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20" nillable="true" ma:displayName="Taxonomy Catch All Column" ma:hidden="true" ma:list="{fbaea993-1c0d-401b-b10e-34f4dbbf2d31}" ma:internalName="TaxCatchAll" ma:showField="CatchAllData" ma:web="4be680dd-c972-4d2a-9afb-1933511499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BBBCBA-CB28-4755-A74F-7582917A56B6}">
  <ds:schemaRefs>
    <ds:schemaRef ds:uri="http://schemas.microsoft.com/office/2006/metadata/properties"/>
    <ds:schemaRef ds:uri="http://schemas.microsoft.com/office/infopath/2007/PartnerControls"/>
    <ds:schemaRef ds:uri="d9ab516d-d64c-41db-aec1-c71c578a1a95"/>
    <ds:schemaRef ds:uri="4be680dd-c972-4d2a-9afb-19335114998a"/>
    <ds:schemaRef ds:uri="http://schemas.microsoft.com/sharepoint/v3"/>
  </ds:schemaRefs>
</ds:datastoreItem>
</file>

<file path=customXml/itemProps2.xml><?xml version="1.0" encoding="utf-8"?>
<ds:datastoreItem xmlns:ds="http://schemas.openxmlformats.org/officeDocument/2006/customXml" ds:itemID="{CD5A526A-93A2-451E-9023-038D073AC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9ab516d-d64c-41db-aec1-c71c578a1a95"/>
    <ds:schemaRef ds:uri="4be680dd-c972-4d2a-9afb-1933511499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C853DD-AA4B-45EB-B7A5-A4900BEBF1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1863</TotalTime>
  <Words>2115</Words>
  <Application>Microsoft Office PowerPoint</Application>
  <PresentationFormat>Grand écran</PresentationFormat>
  <Paragraphs>311</Paragraphs>
  <Slides>16</Slides>
  <Notes>0</Notes>
  <HiddenSlides>0</HiddenSlides>
  <MMClips>0</MMClips>
  <ScaleCrop>false</ScaleCrop>
  <HeadingPairs>
    <vt:vector size="8" baseType="variant">
      <vt:variant>
        <vt:lpstr>Polices utilisées</vt:lpstr>
      </vt:variant>
      <vt:variant>
        <vt:i4>6</vt:i4>
      </vt:variant>
      <vt:variant>
        <vt:lpstr>Thème</vt:lpstr>
      </vt:variant>
      <vt:variant>
        <vt:i4>2</vt:i4>
      </vt:variant>
      <vt:variant>
        <vt:lpstr>Serveurs OLE incorporés</vt:lpstr>
      </vt:variant>
      <vt:variant>
        <vt:i4>1</vt:i4>
      </vt:variant>
      <vt:variant>
        <vt:lpstr>Titres des diapositives</vt:lpstr>
      </vt:variant>
      <vt:variant>
        <vt:i4>16</vt:i4>
      </vt:variant>
    </vt:vector>
  </HeadingPairs>
  <TitlesOfParts>
    <vt:vector size="25" baseType="lpstr">
      <vt:lpstr>Arial</vt:lpstr>
      <vt:lpstr>Book Antiqua</vt:lpstr>
      <vt:lpstr>Calibri</vt:lpstr>
      <vt:lpstr>Calibri Light</vt:lpstr>
      <vt:lpstr>Garamond</vt:lpstr>
      <vt:lpstr>Times New Roman</vt:lpstr>
      <vt:lpstr>Thème Office</vt:lpstr>
      <vt:lpstr>blank</vt:lpstr>
      <vt:lpstr>think-cell Slide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Franck Arnold Junior Migone</dc:creator>
  <cp:lastModifiedBy>Abdoul Kader TOURE</cp:lastModifiedBy>
  <cp:revision>21</cp:revision>
  <dcterms:created xsi:type="dcterms:W3CDTF">2022-04-08T01:08:12Z</dcterms:created>
  <dcterms:modified xsi:type="dcterms:W3CDTF">2025-01-14T09:02:30Z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0x0101006FF2C60DC44266419459CA0205D00625</vt:lpwstr>
  </property>
  <property fmtid="{D5CDD505-2E9C-101B-9397-08002B2CF9AE}" pid="3" name="MediaServiceImageTags">
    <vt:lpwstr/>
  </property>
</Properties>
</file>